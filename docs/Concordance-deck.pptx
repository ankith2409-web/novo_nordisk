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Concordance turns a Power BI semantic model into a BRD and FRD where every statement is traceable to the object it was derived from, and stays checkable as the model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that documentation is slow to write. It is that a document and a model have no mechanical link, so drift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capabilities, one mechanism underneath: the fingerprint binding. The chatbot is grounded in the same graph, so it cannot contradict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DAX is lexed, not pattern-matched: a comment marker inside a string literal defeats regex, and the fingerprint scheme depends on getting that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Reformatting is silent, a changed filter is not. Everything else is built on this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from the two shipped fixture models, not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DuckDB is the working warehouse and needs no credentials; connectors for Snowflake, Databricks, Redshift and Athena ship alongside it, unit-tested but never run against a live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Anything can generate a document; the question is whether a reviewer can trust it without auditing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invented percentages. Every figure here is something the tool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out loud is a deliberate choice and consistent with the product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mechanism, not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920240"/>
            <a:ext cx="10881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Concordance</a:t>
            </a:r>
            <a:endParaRPr lang="en-US" sz="5400" dirty="0"/>
          </a:p>
        </p:txBody>
      </p:sp>
      <p:sp>
        <p:nvSpPr>
          <p:cNvPr id="3" name="Text 1"/>
          <p:cNvSpPr/>
          <p:nvPr/>
        </p:nvSpPr>
        <p:spPr>
          <a:xfrm>
            <a:off x="640080" y="2834640"/>
            <a:ext cx="8778240" cy="822960"/>
          </a:xfrm>
          <a:prstGeom prst="rect">
            <a:avLst/>
          </a:prstGeom>
          <a:noFill/>
          <a:ln/>
        </p:spPr>
        <p:txBody>
          <a:bodyPr wrap="square" lIns="0" tIns="0" rIns="0" bIns="0" rtlCol="0" anchor="ctr"/>
          <a:lstStyle/>
          <a:p>
            <a:pPr indent="0" marL="0">
              <a:buNone/>
            </a:pPr>
            <a:r>
              <a:rPr lang="en-US" sz="1900" dirty="0">
                <a:solidFill>
                  <a:srgbClr val="C2CDD2"/>
                </a:solidFill>
                <a:latin typeface="Calibri" pitchFamily="34" charset="0"/>
                <a:ea typeface="Calibri" pitchFamily="34" charset="-122"/>
                <a:cs typeface="Calibri" pitchFamily="34" charset="-120"/>
              </a:rPr>
              <a:t>A semantic contract between a BRD and the Power BI model it describes</a:t>
            </a:r>
            <a:endParaRPr lang="en-US" sz="1900" dirty="0"/>
          </a:p>
        </p:txBody>
      </p:sp>
      <p:sp>
        <p:nvSpPr>
          <p:cNvPr id="4" name="Text 2"/>
          <p:cNvSpPr/>
          <p:nvPr/>
        </p:nvSpPr>
        <p:spPr>
          <a:xfrm>
            <a:off x="640080" y="4114800"/>
            <a:ext cx="877824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Novo Nordisk GBS Hackathon 2026</a:t>
            </a:r>
            <a:pPr indent="0" marL="0">
              <a:buNone/>
            </a:pPr>
            <a:r>
              <a:rPr lang="en-US" sz="1300" dirty="0">
                <a:solidFill>
                  <a:srgbClr val="93A2A9"/>
                </a:solidFill>
                <a:latin typeface="Calibri" pitchFamily="34" charset="0"/>
                <a:ea typeface="Calibri" pitchFamily="34" charset="-122"/>
                <a:cs typeface="Calibri" pitchFamily="34" charset="-120"/>
              </a:rPr>
              <a:t>   ·   Problem Statement 5</a:t>
            </a:r>
            <a:endParaRPr lang="en-US" sz="1300" dirty="0"/>
          </a:p>
        </p:txBody>
      </p:sp>
      <p:sp>
        <p:nvSpPr>
          <p:cNvPr id="5" name="Text 3"/>
          <p:cNvSpPr/>
          <p:nvPr/>
        </p:nvSpPr>
        <p:spPr>
          <a:xfrm>
            <a:off x="640080" y="4709160"/>
            <a:ext cx="8412480" cy="731520"/>
          </a:xfrm>
          <a:prstGeom prst="rect">
            <a:avLst/>
          </a:prstGeom>
          <a:noFill/>
          <a:ln/>
        </p:spPr>
        <p:txBody>
          <a:bodyPr wrap="square" lIns="0" tIns="0" rIns="0" bIns="0" rtlCol="0" anchor="ctr"/>
          <a:lstStyle/>
          <a:p>
            <a:pPr indent="0" marL="0">
              <a:buNone/>
            </a:pPr>
            <a:r>
              <a:rPr lang="en-US" sz="1250" i="1" dirty="0">
                <a:solidFill>
                  <a:srgbClr val="93A2A9"/>
                </a:solidFill>
                <a:latin typeface="Calibri" pitchFamily="34" charset="0"/>
                <a:ea typeface="Calibri" pitchFamily="34" charset="-122"/>
                <a:cs typeface="Calibri" pitchFamily="34" charset="-120"/>
              </a:rPr>
              <a:t>Requirements are not written from the model. They are derived from it, and every sentence carries the object it came from.</a:t>
            </a:r>
            <a:endParaRPr lang="en-US" sz="1250" dirty="0"/>
          </a:p>
        </p:txBody>
      </p:sp>
      <p:sp>
        <p:nvSpPr>
          <p:cNvPr id="6" name="Text 4"/>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document and the model drift apart</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and nothing in either one says when it happened</a:t>
            </a:r>
            <a:endParaRPr lang="en-US" sz="1400" dirty="0"/>
          </a:p>
        </p:txBody>
      </p:sp>
      <p:sp>
        <p:nvSpPr>
          <p:cNvPr id="4" name="Shape 2"/>
          <p:cNvSpPr/>
          <p:nvPr/>
        </p:nvSpPr>
        <p:spPr>
          <a:xfrm>
            <a:off x="640080" y="1737360"/>
            <a:ext cx="3520440" cy="1828800"/>
          </a:xfrm>
          <a:prstGeom prst="roundRect">
            <a:avLst>
              <a:gd name="adj" fmla="val 2000"/>
            </a:avLst>
          </a:prstGeom>
          <a:solidFill>
            <a:srgbClr val="FFFFFF"/>
          </a:solidFill>
          <a:ln w="9525">
            <a:solidFill>
              <a:srgbClr val="D3DBE0"/>
            </a:solidFill>
            <a:prstDash val="solid"/>
          </a:ln>
        </p:spPr>
      </p:sp>
      <p:sp>
        <p:nvSpPr>
          <p:cNvPr id="5" name="Shape 3"/>
          <p:cNvSpPr/>
          <p:nvPr/>
        </p:nvSpPr>
        <p:spPr>
          <a:xfrm>
            <a:off x="896112" y="1993392"/>
            <a:ext cx="310896" cy="310896"/>
          </a:xfrm>
          <a:prstGeom prst="ellipse">
            <a:avLst/>
          </a:prstGeom>
          <a:solidFill>
            <a:srgbClr val="FBF0DD"/>
          </a:solidFill>
          <a:ln/>
        </p:spPr>
      </p:sp>
      <p:sp>
        <p:nvSpPr>
          <p:cNvPr id="6" name="Text 4"/>
          <p:cNvSpPr/>
          <p:nvPr/>
        </p:nvSpPr>
        <p:spPr>
          <a:xfrm>
            <a:off x="132588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by hand</a:t>
            </a:r>
            <a:endParaRPr lang="en-US" sz="1400" dirty="0"/>
          </a:p>
        </p:txBody>
      </p:sp>
      <p:sp>
        <p:nvSpPr>
          <p:cNvPr id="7" name="Text 5"/>
          <p:cNvSpPr/>
          <p:nvPr/>
        </p:nvSpPr>
        <p:spPr>
          <a:xfrm>
            <a:off x="91440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A BRD is typed from interviews and screenshots. It is correct on the day it is signed and never verified again.</a:t>
            </a:r>
            <a:endParaRPr lang="en-US" sz="1200" dirty="0"/>
          </a:p>
        </p:txBody>
      </p:sp>
      <p:sp>
        <p:nvSpPr>
          <p:cNvPr id="8" name="Shape 6"/>
          <p:cNvSpPr/>
          <p:nvPr/>
        </p:nvSpPr>
        <p:spPr>
          <a:xfrm>
            <a:off x="4343400" y="1737360"/>
            <a:ext cx="3520440" cy="1828800"/>
          </a:xfrm>
          <a:prstGeom prst="roundRect">
            <a:avLst>
              <a:gd name="adj" fmla="val 2000"/>
            </a:avLst>
          </a:prstGeom>
          <a:solidFill>
            <a:srgbClr val="FFFFFF"/>
          </a:solidFill>
          <a:ln w="9525">
            <a:solidFill>
              <a:srgbClr val="D3DBE0"/>
            </a:solidFill>
            <a:prstDash val="solid"/>
          </a:ln>
        </p:spPr>
      </p:sp>
      <p:sp>
        <p:nvSpPr>
          <p:cNvPr id="9" name="Shape 7"/>
          <p:cNvSpPr/>
          <p:nvPr/>
        </p:nvSpPr>
        <p:spPr>
          <a:xfrm>
            <a:off x="4599432" y="1993392"/>
            <a:ext cx="310896" cy="310896"/>
          </a:xfrm>
          <a:prstGeom prst="ellipse">
            <a:avLst/>
          </a:prstGeom>
          <a:solidFill>
            <a:srgbClr val="FBE7E7"/>
          </a:solidFill>
          <a:ln/>
        </p:spPr>
      </p:sp>
      <p:sp>
        <p:nvSpPr>
          <p:cNvPr id="10" name="Text 8"/>
          <p:cNvSpPr/>
          <p:nvPr/>
        </p:nvSpPr>
        <p:spPr>
          <a:xfrm>
            <a:off x="502920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Changed without notice</a:t>
            </a:r>
            <a:endParaRPr lang="en-US" sz="1400" dirty="0"/>
          </a:p>
        </p:txBody>
      </p:sp>
      <p:sp>
        <p:nvSpPr>
          <p:cNvPr id="11" name="Text 9"/>
          <p:cNvSpPr/>
          <p:nvPr/>
        </p:nvSpPr>
        <p:spPr>
          <a:xfrm>
            <a:off x="461772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Someone edits one filter in one measure. The number moves. The document still describes the old logic.</a:t>
            </a:r>
            <a:endParaRPr lang="en-US" sz="1200" dirty="0"/>
          </a:p>
        </p:txBody>
      </p:sp>
      <p:sp>
        <p:nvSpPr>
          <p:cNvPr id="12" name="Shape 10"/>
          <p:cNvSpPr/>
          <p:nvPr/>
        </p:nvSpPr>
        <p:spPr>
          <a:xfrm>
            <a:off x="8046720" y="1737360"/>
            <a:ext cx="3520440" cy="1828800"/>
          </a:xfrm>
          <a:prstGeom prst="roundRect">
            <a:avLst>
              <a:gd name="adj" fmla="val 2000"/>
            </a:avLst>
          </a:prstGeom>
          <a:solidFill>
            <a:srgbClr val="FFFFFF"/>
          </a:solidFill>
          <a:ln w="9525">
            <a:solidFill>
              <a:srgbClr val="D3DBE0"/>
            </a:solidFill>
            <a:prstDash val="solid"/>
          </a:ln>
        </p:spPr>
      </p:sp>
      <p:sp>
        <p:nvSpPr>
          <p:cNvPr id="13" name="Shape 11"/>
          <p:cNvSpPr/>
          <p:nvPr/>
        </p:nvSpPr>
        <p:spPr>
          <a:xfrm>
            <a:off x="8302752" y="1993392"/>
            <a:ext cx="310896" cy="310896"/>
          </a:xfrm>
          <a:prstGeom prst="ellipse">
            <a:avLst/>
          </a:prstGeom>
          <a:solidFill>
            <a:srgbClr val="FBE7E7"/>
          </a:solidFill>
          <a:ln/>
        </p:spPr>
      </p:sp>
      <p:sp>
        <p:nvSpPr>
          <p:cNvPr id="14" name="Text 12"/>
          <p:cNvSpPr/>
          <p:nvPr/>
        </p:nvSpPr>
        <p:spPr>
          <a:xfrm>
            <a:off x="873252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Found in a meeting</a:t>
            </a:r>
            <a:endParaRPr lang="en-US" sz="1400" dirty="0"/>
          </a:p>
        </p:txBody>
      </p:sp>
      <p:sp>
        <p:nvSpPr>
          <p:cNvPr id="15" name="Text 13"/>
          <p:cNvSpPr/>
          <p:nvPr/>
        </p:nvSpPr>
        <p:spPr>
          <a:xfrm>
            <a:off x="832104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Two reports disagree. The reconciliation is manual, and nobody can say which definition is authoritative.</a:t>
            </a:r>
            <a:endParaRPr lang="en-US" sz="1200" dirty="0"/>
          </a:p>
        </p:txBody>
      </p:sp>
      <p:sp>
        <p:nvSpPr>
          <p:cNvPr id="16" name="Shape 14"/>
          <p:cNvSpPr/>
          <p:nvPr/>
        </p:nvSpPr>
        <p:spPr>
          <a:xfrm>
            <a:off x="640080" y="3886200"/>
            <a:ext cx="10881360" cy="1417320"/>
          </a:xfrm>
          <a:prstGeom prst="roundRect">
            <a:avLst>
              <a:gd name="adj" fmla="val 1935"/>
            </a:avLst>
          </a:prstGeom>
          <a:solidFill>
            <a:srgbClr val="FFFFFF"/>
          </a:solidFill>
          <a:ln w="9525">
            <a:solidFill>
              <a:srgbClr val="D3DBE0"/>
            </a:solidFill>
            <a:prstDash val="solid"/>
          </a:ln>
        </p:spPr>
      </p:sp>
      <p:sp>
        <p:nvSpPr>
          <p:cNvPr id="17" name="Text 15"/>
          <p:cNvSpPr/>
          <p:nvPr/>
        </p:nvSpPr>
        <p:spPr>
          <a:xfrm>
            <a:off x="960120" y="4069080"/>
            <a:ext cx="10241280" cy="640080"/>
          </a:xfrm>
          <a:prstGeom prst="rect">
            <a:avLst/>
          </a:prstGeom>
          <a:noFill/>
          <a:ln/>
        </p:spPr>
        <p:txBody>
          <a:bodyPr wrap="square" lIns="0" tIns="0" rIns="0" bIns="0" rtlCol="0" anchor="ctr"/>
          <a:lstStyle/>
          <a:p>
            <a:pPr indent="0" marL="0">
              <a:buNone/>
            </a:pPr>
            <a:r>
              <a:rPr lang="en-US" sz="1500" dirty="0">
                <a:solidFill>
                  <a:srgbClr val="14202B"/>
                </a:solidFill>
                <a:latin typeface="Calibri" pitchFamily="34" charset="0"/>
                <a:ea typeface="Calibri" pitchFamily="34" charset="-122"/>
                <a:cs typeface="Calibri" pitchFamily="34" charset="-120"/>
              </a:rPr>
              <a:t>The gap is not documentation effort. It is that no link exists between a sentence and the logic it describes — so nothing can tell you the sentence stopped being true.</a:t>
            </a:r>
            <a:endParaRPr lang="en-US" sz="1500" dirty="0"/>
          </a:p>
        </p:txBody>
      </p:sp>
      <p:sp>
        <p:nvSpPr>
          <p:cNvPr id="18" name="Text 16"/>
          <p:cNvSpPr/>
          <p:nvPr/>
        </p:nvSpPr>
        <p:spPr>
          <a:xfrm>
            <a:off x="960120" y="4709160"/>
            <a:ext cx="10241280" cy="411480"/>
          </a:xfrm>
          <a:prstGeom prst="rect">
            <a:avLst/>
          </a:prstGeom>
          <a:noFill/>
          <a:ln/>
        </p:spPr>
        <p:txBody>
          <a:bodyPr wrap="square" lIns="0" tIns="0" rIns="0" bIns="0" rtlCol="0" anchor="ctr"/>
          <a:lstStyle/>
          <a:p>
            <a:pPr indent="0" marL="0">
              <a:buNone/>
            </a:pPr>
            <a:r>
              <a:rPr lang="en-US" sz="1300" i="1" dirty="0">
                <a:solidFill>
                  <a:srgbClr val="5C6B74"/>
                </a:solidFill>
                <a:latin typeface="Calibri" pitchFamily="34" charset="0"/>
                <a:ea typeface="Calibri" pitchFamily="34" charset="-122"/>
                <a:cs typeface="Calibri" pitchFamily="34" charset="-120"/>
              </a:rPr>
              <a:t>In a regulated environment that gap is an audit finding, not an inconvenience.</a:t>
            </a:r>
            <a:endParaRPr lang="en-US" sz="1300" dirty="0"/>
          </a:p>
        </p:txBody>
      </p:sp>
      <p:sp>
        <p:nvSpPr>
          <p:cNvPr id="19" name="Text 17"/>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76fa30df61e0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Concordance does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extraction, five things that stay true afterwards</a:t>
            </a:r>
            <a:endParaRPr lang="en-US" sz="1400" dirty="0"/>
          </a:p>
        </p:txBody>
      </p:sp>
      <p:sp>
        <p:nvSpPr>
          <p:cNvPr id="4" name="Shape 2"/>
          <p:cNvSpPr/>
          <p:nvPr/>
        </p:nvSpPr>
        <p:spPr>
          <a:xfrm>
            <a:off x="640080" y="1810512"/>
            <a:ext cx="347472" cy="347472"/>
          </a:xfrm>
          <a:prstGeom prst="ellipse">
            <a:avLst/>
          </a:prstGeom>
          <a:solidFill>
            <a:srgbClr val="2C5985"/>
          </a:solidFill>
          <a:ln/>
        </p:spPr>
      </p:sp>
      <p:sp>
        <p:nvSpPr>
          <p:cNvPr id="5" name="Text 3"/>
          <p:cNvSpPr/>
          <p:nvPr/>
        </p:nvSpPr>
        <p:spPr>
          <a:xfrm>
            <a:off x="640080" y="18105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70432" y="1764792"/>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Derives the BRD and FRD</a:t>
            </a:r>
            <a:endParaRPr lang="en-US" sz="1400" dirty="0"/>
          </a:p>
        </p:txBody>
      </p:sp>
      <p:sp>
        <p:nvSpPr>
          <p:cNvPr id="7" name="Text 5"/>
          <p:cNvSpPr/>
          <p:nvPr/>
        </p:nvSpPr>
        <p:spPr>
          <a:xfrm>
            <a:off x="1170432" y="2057400"/>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Every statement comes from an object in the model, and shows which one.</a:t>
            </a:r>
            <a:endParaRPr lang="en-US" sz="1150" dirty="0"/>
          </a:p>
        </p:txBody>
      </p:sp>
      <p:sp>
        <p:nvSpPr>
          <p:cNvPr id="8" name="Shape 6"/>
          <p:cNvSpPr/>
          <p:nvPr/>
        </p:nvSpPr>
        <p:spPr>
          <a:xfrm>
            <a:off x="640080" y="2715768"/>
            <a:ext cx="347472" cy="347472"/>
          </a:xfrm>
          <a:prstGeom prst="ellipse">
            <a:avLst/>
          </a:prstGeom>
          <a:solidFill>
            <a:srgbClr val="2C5985"/>
          </a:solidFill>
          <a:ln/>
        </p:spPr>
      </p:sp>
      <p:sp>
        <p:nvSpPr>
          <p:cNvPr id="9" name="Text 7"/>
          <p:cNvSpPr/>
          <p:nvPr/>
        </p:nvSpPr>
        <p:spPr>
          <a:xfrm>
            <a:off x="640080" y="27157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70432" y="2670048"/>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Fingerprints the logic</a:t>
            </a:r>
            <a:endParaRPr lang="en-US" sz="1400" dirty="0"/>
          </a:p>
        </p:txBody>
      </p:sp>
      <p:sp>
        <p:nvSpPr>
          <p:cNvPr id="11" name="Text 9"/>
          <p:cNvSpPr/>
          <p:nvPr/>
        </p:nvSpPr>
        <p:spPr>
          <a:xfrm>
            <a:off x="1170432" y="2962656"/>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Canonicalised DAX, hashed. Reformatting is silent; a changed filter is not.</a:t>
            </a:r>
            <a:endParaRPr lang="en-US" sz="1150" dirty="0"/>
          </a:p>
        </p:txBody>
      </p:sp>
      <p:sp>
        <p:nvSpPr>
          <p:cNvPr id="12" name="Shape 10"/>
          <p:cNvSpPr/>
          <p:nvPr/>
        </p:nvSpPr>
        <p:spPr>
          <a:xfrm>
            <a:off x="640080" y="3621024"/>
            <a:ext cx="347472" cy="347472"/>
          </a:xfrm>
          <a:prstGeom prst="ellipse">
            <a:avLst/>
          </a:prstGeom>
          <a:solidFill>
            <a:srgbClr val="2C5985"/>
          </a:solidFill>
          <a:ln/>
        </p:spPr>
      </p:sp>
      <p:sp>
        <p:nvSpPr>
          <p:cNvPr id="13" name="Text 11"/>
          <p:cNvSpPr/>
          <p:nvPr/>
        </p:nvSpPr>
        <p:spPr>
          <a:xfrm>
            <a:off x="640080" y="362102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70432" y="3575304"/>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Detects drift between versions</a:t>
            </a:r>
            <a:endParaRPr lang="en-US" sz="1400" dirty="0"/>
          </a:p>
        </p:txBody>
      </p:sp>
      <p:sp>
        <p:nvSpPr>
          <p:cNvPr id="15" name="Text 13"/>
          <p:cNvSpPr/>
          <p:nvPr/>
        </p:nvSpPr>
        <p:spPr>
          <a:xfrm>
            <a:off x="1170432" y="3867912"/>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Names the requirements a change puts in question, and the ones it provably does not.</a:t>
            </a:r>
            <a:endParaRPr lang="en-US" sz="1150" dirty="0"/>
          </a:p>
        </p:txBody>
      </p:sp>
      <p:sp>
        <p:nvSpPr>
          <p:cNvPr id="16" name="Shape 14"/>
          <p:cNvSpPr/>
          <p:nvPr/>
        </p:nvSpPr>
        <p:spPr>
          <a:xfrm>
            <a:off x="640080" y="4526280"/>
            <a:ext cx="347472" cy="347472"/>
          </a:xfrm>
          <a:prstGeom prst="ellipse">
            <a:avLst/>
          </a:prstGeom>
          <a:solidFill>
            <a:srgbClr val="2C5985"/>
          </a:solidFill>
          <a:ln/>
        </p:spPr>
      </p:sp>
      <p:sp>
        <p:nvSpPr>
          <p:cNvPr id="17" name="Text 15"/>
          <p:cNvSpPr/>
          <p:nvPr/>
        </p:nvSpPr>
        <p:spPr>
          <a:xfrm>
            <a:off x="640080" y="4526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70432" y="4480560"/>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Reconciles across platforms</a:t>
            </a:r>
            <a:endParaRPr lang="en-US" sz="1400" dirty="0"/>
          </a:p>
        </p:txBody>
      </p:sp>
      <p:sp>
        <p:nvSpPr>
          <p:cNvPr id="19" name="Text 17"/>
          <p:cNvSpPr/>
          <p:nvPr/>
        </p:nvSpPr>
        <p:spPr>
          <a:xfrm>
            <a:off x="1170432" y="4773168"/>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Compares what a DAX measure and a warehouse view each read, and reports the difference.</a:t>
            </a:r>
            <a:endParaRPr lang="en-US" sz="1150" dirty="0"/>
          </a:p>
        </p:txBody>
      </p:sp>
      <p:sp>
        <p:nvSpPr>
          <p:cNvPr id="20" name="Shape 18"/>
          <p:cNvSpPr/>
          <p:nvPr/>
        </p:nvSpPr>
        <p:spPr>
          <a:xfrm>
            <a:off x="640080" y="5431536"/>
            <a:ext cx="347472" cy="347472"/>
          </a:xfrm>
          <a:prstGeom prst="ellipse">
            <a:avLst/>
          </a:prstGeom>
          <a:solidFill>
            <a:srgbClr val="2C5985"/>
          </a:solidFill>
          <a:ln/>
        </p:spPr>
      </p:sp>
      <p:sp>
        <p:nvSpPr>
          <p:cNvPr id="21" name="Text 19"/>
          <p:cNvSpPr/>
          <p:nvPr/>
        </p:nvSpPr>
        <p:spPr>
          <a:xfrm>
            <a:off x="640080" y="543153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70432" y="5385816"/>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Answers questions about the model</a:t>
            </a:r>
            <a:endParaRPr lang="en-US" sz="1400" dirty="0"/>
          </a:p>
        </p:txBody>
      </p:sp>
      <p:sp>
        <p:nvSpPr>
          <p:cNvPr id="23" name="Text 21"/>
          <p:cNvSpPr/>
          <p:nvPr/>
        </p:nvSpPr>
        <p:spPr>
          <a:xfrm>
            <a:off x="1170432" y="5678424"/>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Fifteen read-only tools over the graph. Every answer is a real tool call, never recall.</a:t>
            </a:r>
            <a:endParaRPr lang="en-US" sz="1150" dirty="0"/>
          </a:p>
        </p:txBody>
      </p:sp>
      <p:sp>
        <p:nvSpPr>
          <p:cNvPr id="24" name="Shape 22"/>
          <p:cNvSpPr/>
          <p:nvPr/>
        </p:nvSpPr>
        <p:spPr>
          <a:xfrm>
            <a:off x="6949440" y="1737360"/>
            <a:ext cx="4572000" cy="4480560"/>
          </a:xfrm>
          <a:prstGeom prst="roundRect">
            <a:avLst>
              <a:gd name="adj" fmla="val 612"/>
            </a:avLst>
          </a:prstGeom>
          <a:solidFill>
            <a:srgbClr val="14202B"/>
          </a:solidFill>
          <a:ln w="12700">
            <a:solidFill>
              <a:srgbClr val="14202B"/>
            </a:solidFill>
            <a:prstDash val="solid"/>
          </a:ln>
        </p:spPr>
      </p:sp>
      <p:sp>
        <p:nvSpPr>
          <p:cNvPr id="25" name="Text 23"/>
          <p:cNvSpPr/>
          <p:nvPr/>
        </p:nvSpPr>
        <p:spPr>
          <a:xfrm>
            <a:off x="7269480" y="1965960"/>
            <a:ext cx="3931920" cy="365760"/>
          </a:xfrm>
          <a:prstGeom prst="rect">
            <a:avLst/>
          </a:prstGeom>
          <a:noFill/>
          <a:ln/>
        </p:spPr>
        <p:txBody>
          <a:bodyPr wrap="square" lIns="0" tIns="0" rIns="0" bIns="0" rtlCol="0" anchor="ctr"/>
          <a:lstStyle/>
          <a:p>
            <a:pPr indent="0" marL="0">
              <a:buNone/>
            </a:pPr>
            <a:r>
              <a:rPr lang="en-US" sz="1100" b="1" spc="150" kern="0" dirty="0">
                <a:solidFill>
                  <a:srgbClr val="8896A0"/>
                </a:solidFill>
                <a:latin typeface="Calibri" pitchFamily="34" charset="0"/>
                <a:ea typeface="Calibri" pitchFamily="34" charset="-122"/>
                <a:cs typeface="Calibri" pitchFamily="34" charset="-120"/>
              </a:rPr>
              <a:t>The claim</a:t>
            </a:r>
            <a:endParaRPr lang="en-US" sz="1100" dirty="0"/>
          </a:p>
        </p:txBody>
      </p:sp>
      <p:sp>
        <p:nvSpPr>
          <p:cNvPr id="26" name="Text 24"/>
          <p:cNvSpPr/>
          <p:nvPr/>
        </p:nvSpPr>
        <p:spPr>
          <a:xfrm>
            <a:off x="7269480" y="2377440"/>
            <a:ext cx="3931920" cy="82296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requirement is bound to a fingerprint.</a:t>
            </a:r>
            <a:endParaRPr lang="en-US" sz="2100" dirty="0"/>
          </a:p>
        </p:txBody>
      </p:sp>
      <p:sp>
        <p:nvSpPr>
          <p:cNvPr id="27" name="Text 25"/>
          <p:cNvSpPr/>
          <p:nvPr/>
        </p:nvSpPr>
        <p:spPr>
          <a:xfrm>
            <a:off x="7269480" y="3291840"/>
            <a:ext cx="3931920" cy="1005840"/>
          </a:xfrm>
          <a:prstGeom prst="rect">
            <a:avLst/>
          </a:prstGeom>
          <a:noFill/>
          <a:ln/>
        </p:spPr>
        <p:txBody>
          <a:bodyPr wrap="square" lIns="0" tIns="0" rIns="0" bIns="0" rtlCol="0" anchor="ctr"/>
          <a:lstStyle/>
          <a:p>
            <a:pPr indent="0" marL="0">
              <a:lnSpc>
                <a:spcPct val="120000"/>
              </a:lnSpc>
              <a:buNone/>
            </a:pPr>
            <a:r>
              <a:rPr lang="en-US" sz="1250" dirty="0">
                <a:solidFill>
                  <a:srgbClr val="C2CDD2"/>
                </a:solidFill>
                <a:latin typeface="Calibri" pitchFamily="34" charset="0"/>
                <a:ea typeface="Calibri" pitchFamily="34" charset="-122"/>
                <a:cs typeface="Calibri" pitchFamily="34" charset="-120"/>
              </a:rPr>
              <a:t>Change the logic and the binding breaks — automatically, with no one remembering to check. That is the whole design.</a:t>
            </a:r>
            <a:endParaRPr lang="en-US" sz="1250" dirty="0"/>
          </a:p>
        </p:txBody>
      </p:sp>
      <p:sp>
        <p:nvSpPr>
          <p:cNvPr id="28" name="Text 26"/>
          <p:cNvSpPr/>
          <p:nvPr/>
        </p:nvSpPr>
        <p:spPr>
          <a:xfrm>
            <a:off x="7269480" y="443484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REQ-B-58c30b</a:t>
            </a:r>
            <a:endParaRPr lang="en-US" sz="1100" dirty="0"/>
          </a:p>
        </p:txBody>
      </p:sp>
      <p:sp>
        <p:nvSpPr>
          <p:cNvPr id="29" name="Text 27"/>
          <p:cNvSpPr/>
          <p:nvPr/>
        </p:nvSpPr>
        <p:spPr>
          <a:xfrm>
            <a:off x="7269480" y="470916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bound to  20128b29d1e1</a:t>
            </a:r>
            <a:endParaRPr lang="en-US" sz="1100" dirty="0"/>
          </a:p>
        </p:txBody>
      </p:sp>
      <p:sp>
        <p:nvSpPr>
          <p:cNvPr id="30" name="Text 28"/>
          <p:cNvSpPr/>
          <p:nvPr/>
        </p:nvSpPr>
        <p:spPr>
          <a:xfrm>
            <a:off x="7269480" y="4983480"/>
            <a:ext cx="3931920" cy="274320"/>
          </a:xfrm>
          <a:prstGeom prst="rect">
            <a:avLst/>
          </a:prstGeom>
          <a:noFill/>
          <a:ln/>
        </p:spPr>
        <p:txBody>
          <a:bodyPr wrap="square" lIns="0" tIns="0" rIns="0" bIns="0" rtlCol="0" anchor="ctr"/>
          <a:lstStyle/>
          <a:p>
            <a:pPr indent="0" marL="0">
              <a:buNone/>
            </a:pPr>
            <a:r>
              <a:rPr lang="en-US" sz="1100" dirty="0">
                <a:solidFill>
                  <a:srgbClr val="E0736E"/>
                </a:solidFill>
                <a:latin typeface="Courier New" pitchFamily="34" charset="0"/>
                <a:ea typeface="Courier New" pitchFamily="34" charset="-122"/>
                <a:cs typeface="Courier New" pitchFamily="34" charset="-120"/>
              </a:rPr>
              <a:t>now       ee32bfb1016c   STALE</a:t>
            </a:r>
            <a:endParaRPr lang="en-US" sz="1100" dirty="0"/>
          </a:p>
        </p:txBody>
      </p:sp>
      <p:sp>
        <p:nvSpPr>
          <p:cNvPr id="31" name="Text 29"/>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20128b29d1e1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How it works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pipeline, seven real models, two Power BI formats</a:t>
            </a:r>
            <a:endParaRPr lang="en-US" sz="1400" dirty="0"/>
          </a:p>
        </p:txBody>
      </p:sp>
      <p:sp>
        <p:nvSpPr>
          <p:cNvPr id="4" name="Shape 2"/>
          <p:cNvSpPr/>
          <p:nvPr/>
        </p:nvSpPr>
        <p:spPr>
          <a:xfrm>
            <a:off x="640080" y="2011680"/>
            <a:ext cx="2514600" cy="1600200"/>
          </a:xfrm>
          <a:prstGeom prst="roundRect">
            <a:avLst>
              <a:gd name="adj" fmla="val 2286"/>
            </a:avLst>
          </a:prstGeom>
          <a:solidFill>
            <a:srgbClr val="FFFFFF"/>
          </a:solidFill>
          <a:ln w="9525">
            <a:solidFill>
              <a:srgbClr val="D3DBE0"/>
            </a:solidFill>
            <a:prstDash val="solid"/>
          </a:ln>
        </p:spPr>
      </p:sp>
      <p:sp>
        <p:nvSpPr>
          <p:cNvPr id="5" name="Text 3"/>
          <p:cNvSpPr/>
          <p:nvPr/>
        </p:nvSpPr>
        <p:spPr>
          <a:xfrm>
            <a:off x="77724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.pbix / TMDL</a:t>
            </a:r>
            <a:endParaRPr lang="en-US" sz="1350" dirty="0"/>
          </a:p>
        </p:txBody>
      </p:sp>
      <p:sp>
        <p:nvSpPr>
          <p:cNvPr id="6" name="Text 4"/>
          <p:cNvSpPr/>
          <p:nvPr/>
        </p:nvSpPr>
        <p:spPr>
          <a:xfrm>
            <a:off x="77724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Two adapters, one model shape</a:t>
            </a:r>
            <a:endParaRPr lang="en-US" sz="1050" dirty="0"/>
          </a:p>
        </p:txBody>
      </p:sp>
      <p:sp>
        <p:nvSpPr>
          <p:cNvPr id="7" name="Text 5"/>
          <p:cNvSpPr/>
          <p:nvPr/>
        </p:nvSpPr>
        <p:spPr>
          <a:xfrm>
            <a:off x="318211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3520440" y="2011680"/>
            <a:ext cx="2514600" cy="1600200"/>
          </a:xfrm>
          <a:prstGeom prst="roundRect">
            <a:avLst>
              <a:gd name="adj" fmla="val 2286"/>
            </a:avLst>
          </a:prstGeom>
          <a:solidFill>
            <a:srgbClr val="FFFFFF"/>
          </a:solidFill>
          <a:ln w="9525">
            <a:solidFill>
              <a:srgbClr val="D3DBE0"/>
            </a:solidFill>
            <a:prstDash val="solid"/>
          </a:ln>
        </p:spPr>
      </p:sp>
      <p:sp>
        <p:nvSpPr>
          <p:cNvPr id="9" name="Text 7"/>
          <p:cNvSpPr/>
          <p:nvPr/>
        </p:nvSpPr>
        <p:spPr>
          <a:xfrm>
            <a:off x="365760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Canonical</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Semantic Graph</a:t>
            </a:r>
            <a:endParaRPr lang="en-US" sz="1350" dirty="0"/>
          </a:p>
        </p:txBody>
      </p:sp>
      <p:sp>
        <p:nvSpPr>
          <p:cNvPr id="10" name="Text 8"/>
          <p:cNvSpPr/>
          <p:nvPr/>
        </p:nvSpPr>
        <p:spPr>
          <a:xfrm>
            <a:off x="365760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Tables, measures, joins,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columns, sources</a:t>
            </a:r>
            <a:endParaRPr lang="en-US" sz="1050" dirty="0"/>
          </a:p>
        </p:txBody>
      </p:sp>
      <p:sp>
        <p:nvSpPr>
          <p:cNvPr id="11" name="Text 9"/>
          <p:cNvSpPr/>
          <p:nvPr/>
        </p:nvSpPr>
        <p:spPr>
          <a:xfrm>
            <a:off x="606247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0" y="2011680"/>
            <a:ext cx="2514600" cy="1600200"/>
          </a:xfrm>
          <a:prstGeom prst="roundRect">
            <a:avLst>
              <a:gd name="adj" fmla="val 2286"/>
            </a:avLst>
          </a:prstGeom>
          <a:solidFill>
            <a:srgbClr val="FFFFFF"/>
          </a:solidFill>
          <a:ln w="9525">
            <a:solidFill>
              <a:srgbClr val="D3DBE0"/>
            </a:solidFill>
            <a:prstDash val="solid"/>
          </a:ln>
        </p:spPr>
      </p:sp>
      <p:sp>
        <p:nvSpPr>
          <p:cNvPr id="13" name="Text 11"/>
          <p:cNvSpPr/>
          <p:nvPr/>
        </p:nvSpPr>
        <p:spPr>
          <a:xfrm>
            <a:off x="653796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SHA-256</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fingerprints</a:t>
            </a:r>
            <a:endParaRPr lang="en-US" sz="1350" dirty="0"/>
          </a:p>
        </p:txBody>
      </p:sp>
      <p:sp>
        <p:nvSpPr>
          <p:cNvPr id="14" name="Text 12"/>
          <p:cNvSpPr/>
          <p:nvPr/>
        </p:nvSpPr>
        <p:spPr>
          <a:xfrm>
            <a:off x="653796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Over canonicalised DAX,</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not raw text</a:t>
            </a:r>
            <a:endParaRPr lang="en-US" sz="1050" dirty="0"/>
          </a:p>
        </p:txBody>
      </p:sp>
      <p:sp>
        <p:nvSpPr>
          <p:cNvPr id="15" name="Text 13"/>
          <p:cNvSpPr/>
          <p:nvPr/>
        </p:nvSpPr>
        <p:spPr>
          <a:xfrm>
            <a:off x="894283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281160" y="2011680"/>
            <a:ext cx="2514600" cy="1600200"/>
          </a:xfrm>
          <a:prstGeom prst="roundRect">
            <a:avLst>
              <a:gd name="adj" fmla="val 2286"/>
            </a:avLst>
          </a:prstGeom>
          <a:solidFill>
            <a:srgbClr val="FFFFFF"/>
          </a:solidFill>
          <a:ln w="9525">
            <a:solidFill>
              <a:srgbClr val="D3DBE0"/>
            </a:solidFill>
            <a:prstDash val="solid"/>
          </a:ln>
        </p:spPr>
      </p:sp>
      <p:sp>
        <p:nvSpPr>
          <p:cNvPr id="17" name="Text 15"/>
          <p:cNvSpPr/>
          <p:nvPr/>
        </p:nvSpPr>
        <p:spPr>
          <a:xfrm>
            <a:off x="941832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BRD / FRD</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 evidence</a:t>
            </a:r>
            <a:endParaRPr lang="en-US" sz="1350" dirty="0"/>
          </a:p>
        </p:txBody>
      </p:sp>
      <p:sp>
        <p:nvSpPr>
          <p:cNvPr id="18" name="Text 16"/>
          <p:cNvSpPr/>
          <p:nvPr/>
        </p:nvSpPr>
        <p:spPr>
          <a:xfrm>
            <a:off x="941832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Every statement carries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its objects</a:t>
            </a:r>
            <a:endParaRPr lang="en-US" sz="1050" dirty="0"/>
          </a:p>
        </p:txBody>
      </p:sp>
      <p:sp>
        <p:nvSpPr>
          <p:cNvPr id="19" name="Text 17"/>
          <p:cNvSpPr/>
          <p:nvPr/>
        </p:nvSpPr>
        <p:spPr>
          <a:xfrm>
            <a:off x="640080" y="3931920"/>
            <a:ext cx="10881360" cy="640080"/>
          </a:xfrm>
          <a:prstGeom prst="rect">
            <a:avLst/>
          </a:prstGeom>
          <a:noFill/>
          <a:ln/>
        </p:spPr>
        <p:txBody>
          <a:bodyPr wrap="square" lIns="0" tIns="0" rIns="0" bIns="0" rtlCol="0" anchor="ctr"/>
          <a:lstStyle/>
          <a:p>
            <a:pPr indent="0" marL="0">
              <a:buNone/>
            </a:pPr>
            <a:r>
              <a:rPr lang="en-US" sz="1300" dirty="0">
                <a:solidFill>
                  <a:srgbClr val="14202B"/>
                </a:solidFill>
                <a:latin typeface="Calibri" pitchFamily="34" charset="0"/>
                <a:ea typeface="Calibri" pitchFamily="34" charset="-122"/>
                <a:cs typeface="Calibri" pitchFamily="34" charset="-120"/>
              </a:rPr>
              <a:t>The graph is the only source of truth downstream. The chatbot, the documents, drift and reconciliation all read it — none of them re-parse the model, so none of them can disagree with each other.</a:t>
            </a:r>
            <a:endParaRPr lang="en-US" sz="1300" dirty="0"/>
          </a:p>
        </p:txBody>
      </p:sp>
      <p:sp>
        <p:nvSpPr>
          <p:cNvPr id="20" name="Shape 18"/>
          <p:cNvSpPr/>
          <p:nvPr/>
        </p:nvSpPr>
        <p:spPr>
          <a:xfrm>
            <a:off x="640080" y="4709160"/>
            <a:ext cx="2651760" cy="1143000"/>
          </a:xfrm>
          <a:prstGeom prst="roundRect">
            <a:avLst>
              <a:gd name="adj" fmla="val 3200"/>
            </a:avLst>
          </a:prstGeom>
          <a:solidFill>
            <a:srgbClr val="FFFFFF"/>
          </a:solidFill>
          <a:ln w="9525">
            <a:solidFill>
              <a:srgbClr val="D3DBE0"/>
            </a:solidFill>
            <a:prstDash val="solid"/>
          </a:ln>
        </p:spPr>
      </p:sp>
      <p:sp>
        <p:nvSpPr>
          <p:cNvPr id="21" name="Text 19"/>
          <p:cNvSpPr/>
          <p:nvPr/>
        </p:nvSpPr>
        <p:spPr>
          <a:xfrm>
            <a:off x="65836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14,012</a:t>
            </a:r>
            <a:endParaRPr lang="en-US" sz="3400" dirty="0"/>
          </a:p>
        </p:txBody>
      </p:sp>
      <p:sp>
        <p:nvSpPr>
          <p:cNvPr id="22" name="Text 20"/>
          <p:cNvSpPr/>
          <p:nvPr/>
        </p:nvSpPr>
        <p:spPr>
          <a:xfrm>
            <a:off x="69494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Python</a:t>
            </a:r>
            <a:endParaRPr lang="en-US" sz="1050" dirty="0"/>
          </a:p>
        </p:txBody>
      </p:sp>
      <p:sp>
        <p:nvSpPr>
          <p:cNvPr id="23" name="Shape 21"/>
          <p:cNvSpPr/>
          <p:nvPr/>
        </p:nvSpPr>
        <p:spPr>
          <a:xfrm>
            <a:off x="3474720" y="4709160"/>
            <a:ext cx="2651760" cy="1143000"/>
          </a:xfrm>
          <a:prstGeom prst="roundRect">
            <a:avLst>
              <a:gd name="adj" fmla="val 3200"/>
            </a:avLst>
          </a:prstGeom>
          <a:solidFill>
            <a:srgbClr val="FFFFFF"/>
          </a:solidFill>
          <a:ln w="9525">
            <a:solidFill>
              <a:srgbClr val="D3DBE0"/>
            </a:solidFill>
            <a:prstDash val="solid"/>
          </a:ln>
        </p:spPr>
      </p:sp>
      <p:sp>
        <p:nvSpPr>
          <p:cNvPr id="24" name="Text 22"/>
          <p:cNvSpPr/>
          <p:nvPr/>
        </p:nvSpPr>
        <p:spPr>
          <a:xfrm>
            <a:off x="349300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5,901</a:t>
            </a:r>
            <a:endParaRPr lang="en-US" sz="3400" dirty="0"/>
          </a:p>
        </p:txBody>
      </p:sp>
      <p:sp>
        <p:nvSpPr>
          <p:cNvPr id="25" name="Text 23"/>
          <p:cNvSpPr/>
          <p:nvPr/>
        </p:nvSpPr>
        <p:spPr>
          <a:xfrm>
            <a:off x="352958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TypeScript</a:t>
            </a:r>
            <a:endParaRPr lang="en-US" sz="1050" dirty="0"/>
          </a:p>
        </p:txBody>
      </p:sp>
      <p:sp>
        <p:nvSpPr>
          <p:cNvPr id="26" name="Shape 24"/>
          <p:cNvSpPr/>
          <p:nvPr/>
        </p:nvSpPr>
        <p:spPr>
          <a:xfrm>
            <a:off x="6309360" y="4709160"/>
            <a:ext cx="2651760" cy="1143000"/>
          </a:xfrm>
          <a:prstGeom prst="roundRect">
            <a:avLst>
              <a:gd name="adj" fmla="val 3200"/>
            </a:avLst>
          </a:prstGeom>
          <a:solidFill>
            <a:srgbClr val="FFFFFF"/>
          </a:solidFill>
          <a:ln w="9525">
            <a:solidFill>
              <a:srgbClr val="D3DBE0"/>
            </a:solidFill>
            <a:prstDash val="solid"/>
          </a:ln>
        </p:spPr>
      </p:sp>
      <p:sp>
        <p:nvSpPr>
          <p:cNvPr id="27" name="Text 25"/>
          <p:cNvSpPr/>
          <p:nvPr/>
        </p:nvSpPr>
        <p:spPr>
          <a:xfrm>
            <a:off x="6327648" y="4818888"/>
            <a:ext cx="261518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801</a:t>
            </a:r>
            <a:endParaRPr lang="en-US" sz="3400" dirty="0"/>
          </a:p>
        </p:txBody>
      </p:sp>
      <p:sp>
        <p:nvSpPr>
          <p:cNvPr id="28" name="Text 26"/>
          <p:cNvSpPr/>
          <p:nvPr/>
        </p:nvSpPr>
        <p:spPr>
          <a:xfrm>
            <a:off x="636422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automated tests</a:t>
            </a:r>
            <a:endParaRPr lang="en-US" sz="1050" dirty="0"/>
          </a:p>
        </p:txBody>
      </p:sp>
      <p:sp>
        <p:nvSpPr>
          <p:cNvPr id="29" name="Shape 27"/>
          <p:cNvSpPr/>
          <p:nvPr/>
        </p:nvSpPr>
        <p:spPr>
          <a:xfrm>
            <a:off x="9144000" y="4709160"/>
            <a:ext cx="2377440" cy="1143000"/>
          </a:xfrm>
          <a:prstGeom prst="roundRect">
            <a:avLst>
              <a:gd name="adj" fmla="val 3200"/>
            </a:avLst>
          </a:prstGeom>
          <a:solidFill>
            <a:srgbClr val="FFFFFF"/>
          </a:solidFill>
          <a:ln w="9525">
            <a:solidFill>
              <a:srgbClr val="D3DBE0"/>
            </a:solidFill>
            <a:prstDash val="solid"/>
          </a:ln>
        </p:spPr>
      </p:sp>
      <p:sp>
        <p:nvSpPr>
          <p:cNvPr id="30" name="Text 28"/>
          <p:cNvSpPr/>
          <p:nvPr/>
        </p:nvSpPr>
        <p:spPr>
          <a:xfrm>
            <a:off x="9162288" y="4818888"/>
            <a:ext cx="2340864" cy="566928"/>
          </a:xfrm>
          <a:prstGeom prst="rect">
            <a:avLst/>
          </a:prstGeom>
          <a:noFill/>
          <a:ln/>
        </p:spPr>
        <p:txBody>
          <a:bodyPr wrap="square" lIns="0" tIns="0" rIns="0" bIns="0" rtlCol="0" anchor="ctr"/>
          <a:lstStyle/>
          <a:p>
            <a:pPr algn="ctr" indent="0" marL="0">
              <a:buNone/>
            </a:pPr>
            <a:r>
              <a:rPr lang="en-US" sz="3400" b="1" dirty="0">
                <a:solidFill>
                  <a:srgbClr val="2C5985"/>
                </a:solidFill>
                <a:latin typeface="Cambria" pitchFamily="34" charset="0"/>
                <a:ea typeface="Cambria" pitchFamily="34" charset="-122"/>
                <a:cs typeface="Cambria" pitchFamily="34" charset="-120"/>
              </a:rPr>
              <a:t>0</a:t>
            </a:r>
            <a:endParaRPr lang="en-US" sz="3400" dirty="0"/>
          </a:p>
        </p:txBody>
      </p:sp>
      <p:sp>
        <p:nvSpPr>
          <p:cNvPr id="31" name="Text 29"/>
          <p:cNvSpPr/>
          <p:nvPr/>
        </p:nvSpPr>
        <p:spPr>
          <a:xfrm>
            <a:off x="9198864" y="54041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regex in the DAX lexer</a:t>
            </a:r>
            <a:endParaRPr lang="en-US" sz="1050" dirty="0"/>
          </a:p>
        </p:txBody>
      </p:sp>
      <p:sp>
        <p:nvSpPr>
          <p:cNvPr id="32" name="Text 30"/>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8c102048e494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fingerprint is the proof</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Run against QC Metrics[OOS Rate] in the real QualityControl model — output copied verbatim</a:t>
            </a:r>
            <a:endParaRPr lang="en-US" sz="1300" dirty="0"/>
          </a:p>
        </p:txBody>
      </p:sp>
      <p:sp>
        <p:nvSpPr>
          <p:cNvPr id="4" name="Shape 2"/>
          <p:cNvSpPr/>
          <p:nvPr/>
        </p:nvSpPr>
        <p:spPr>
          <a:xfrm>
            <a:off x="640080" y="1783080"/>
            <a:ext cx="6675120" cy="3200400"/>
          </a:xfrm>
          <a:prstGeom prst="roundRect">
            <a:avLst>
              <a:gd name="adj" fmla="val 857"/>
            </a:avLst>
          </a:prstGeom>
          <a:solidFill>
            <a:srgbClr val="171E22"/>
          </a:solidFill>
          <a:ln w="9525">
            <a:solidFill>
              <a:srgbClr val="2A343A"/>
            </a:solidFill>
            <a:prstDash val="solid"/>
          </a:ln>
        </p:spPr>
      </p:sp>
      <p:sp>
        <p:nvSpPr>
          <p:cNvPr id="5" name="Text 3"/>
          <p:cNvSpPr/>
          <p:nvPr/>
        </p:nvSpPr>
        <p:spPr>
          <a:xfrm>
            <a:off x="960120" y="205740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original      2c7cbf0aa669</a:t>
            </a:r>
            <a:endParaRPr lang="en-US" sz="1250" dirty="0"/>
          </a:p>
        </p:txBody>
      </p:sp>
      <p:sp>
        <p:nvSpPr>
          <p:cNvPr id="6" name="Text 4"/>
          <p:cNvSpPr/>
          <p:nvPr/>
        </p:nvSpPr>
        <p:spPr>
          <a:xfrm>
            <a:off x="960120" y="2478024"/>
            <a:ext cx="6035040" cy="365760"/>
          </a:xfrm>
          <a:prstGeom prst="rect">
            <a:avLst/>
          </a:prstGeom>
          <a:noFill/>
          <a:ln/>
        </p:spPr>
        <p:txBody>
          <a:bodyPr wrap="square" lIns="0" tIns="0" rIns="0" bIns="0" rtlCol="0" anchor="ctr"/>
          <a:lstStyle/>
          <a:p>
            <a:pPr indent="0" marL="0">
              <a:buNone/>
            </a:pPr>
            <a:r>
              <a:rPr lang="en-US" sz="1250" dirty="0">
                <a:solidFill>
                  <a:srgbClr val="7FD1A8"/>
                </a:solidFill>
                <a:latin typeface="Courier New" pitchFamily="34" charset="0"/>
                <a:ea typeface="Courier New" pitchFamily="34" charset="-122"/>
                <a:cs typeface="Courier New" pitchFamily="34" charset="-120"/>
              </a:rPr>
              <a:t>reformatted   2c7cbf0aa669   same — no drift</a:t>
            </a:r>
            <a:endParaRPr lang="en-US" sz="1250" dirty="0"/>
          </a:p>
        </p:txBody>
      </p:sp>
      <p:sp>
        <p:nvSpPr>
          <p:cNvPr id="7" name="Text 5"/>
          <p:cNvSpPr/>
          <p:nvPr/>
        </p:nvSpPr>
        <p:spPr>
          <a:xfrm>
            <a:off x="960120" y="2898648"/>
            <a:ext cx="6035040" cy="365760"/>
          </a:xfrm>
          <a:prstGeom prst="rect">
            <a:avLst/>
          </a:prstGeom>
          <a:noFill/>
          <a:ln/>
        </p:spPr>
        <p:txBody>
          <a:bodyPr wrap="square" lIns="0" tIns="0" rIns="0" bIns="0" rtlCol="0" anchor="ctr"/>
          <a:lstStyle/>
          <a:p>
            <a:pPr indent="0" marL="0">
              <a:buNone/>
            </a:pPr>
            <a:r>
              <a:rPr lang="en-US" sz="1250" dirty="0">
                <a:solidFill>
                  <a:srgbClr val="E0736E"/>
                </a:solidFill>
                <a:latin typeface="Courier New" pitchFamily="34" charset="0"/>
                <a:ea typeface="Courier New" pitchFamily="34" charset="-122"/>
                <a:cs typeface="Courier New" pitchFamily="34" charset="-120"/>
              </a:rPr>
              <a:t>altered       76fa30df61e0   DRIFT DETECTED</a:t>
            </a:r>
            <a:endParaRPr lang="en-US" sz="1250" dirty="0"/>
          </a:p>
        </p:txBody>
      </p:sp>
      <p:sp>
        <p:nvSpPr>
          <p:cNvPr id="8" name="Text 6"/>
          <p:cNvSpPr/>
          <p:nvPr/>
        </p:nvSpPr>
        <p:spPr>
          <a:xfrm>
            <a:off x="960120" y="3739896"/>
            <a:ext cx="6035040" cy="365760"/>
          </a:xfrm>
          <a:prstGeom prst="rect">
            <a:avLst/>
          </a:prstGeom>
          <a:noFill/>
          <a:ln/>
        </p:spPr>
        <p:txBody>
          <a:bodyPr wrap="square" lIns="0" tIns="0" rIns="0" bIns="0" rtlCol="0" anchor="ctr"/>
          <a:lstStyle/>
          <a:p>
            <a:pPr indent="0" marL="0">
              <a:buNone/>
            </a:pPr>
            <a:r>
              <a:rPr lang="en-US" sz="1250" dirty="0">
                <a:solidFill>
                  <a:srgbClr val="8896A0"/>
                </a:solidFill>
                <a:latin typeface="Courier New" pitchFamily="34" charset="0"/>
                <a:ea typeface="Courier New" pitchFamily="34" charset="-122"/>
                <a:cs typeface="Courier New" pitchFamily="34" charset="-120"/>
              </a:rPr>
              <a:t>mutation applied:</a:t>
            </a:r>
            <a:endParaRPr lang="en-US" sz="1250" dirty="0"/>
          </a:p>
        </p:txBody>
      </p:sp>
      <p:sp>
        <p:nvSpPr>
          <p:cNvPr id="9" name="Text 7"/>
          <p:cNvSpPr/>
          <p:nvPr/>
        </p:nvSpPr>
        <p:spPr>
          <a:xfrm>
            <a:off x="960120" y="416052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  DIVIDE([OOS Results], [Tests Performed], 1)</a:t>
            </a:r>
            <a:endParaRPr lang="en-US" sz="1250" dirty="0"/>
          </a:p>
        </p:txBody>
      </p:sp>
      <p:sp>
        <p:nvSpPr>
          <p:cNvPr id="10" name="Text 8"/>
          <p:cNvSpPr/>
          <p:nvPr/>
        </p:nvSpPr>
        <p:spPr>
          <a:xfrm>
            <a:off x="7863840" y="196596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Whitespace, casing and comments change nothing.</a:t>
            </a:r>
            <a:endParaRPr lang="en-US" sz="1400" dirty="0"/>
          </a:p>
        </p:txBody>
      </p:sp>
      <p:sp>
        <p:nvSpPr>
          <p:cNvPr id="11" name="Text 9"/>
          <p:cNvSpPr/>
          <p:nvPr/>
        </p:nvSpPr>
        <p:spPr>
          <a:xfrm>
            <a:off x="7863840" y="2423160"/>
            <a:ext cx="3657600" cy="82296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So a formatter run does not raise a false alarm, and nobody learns to ignore the alarms.</a:t>
            </a:r>
            <a:endParaRPr lang="en-US" sz="1200" dirty="0"/>
          </a:p>
        </p:txBody>
      </p:sp>
      <p:sp>
        <p:nvSpPr>
          <p:cNvPr id="12" name="Text 10"/>
          <p:cNvSpPr/>
          <p:nvPr/>
        </p:nvSpPr>
        <p:spPr>
          <a:xfrm>
            <a:off x="7863840" y="342900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One character of meaning changes everything.</a:t>
            </a:r>
            <a:endParaRPr lang="en-US" sz="1400" dirty="0"/>
          </a:p>
        </p:txBody>
      </p:sp>
      <p:sp>
        <p:nvSpPr>
          <p:cNvPr id="13" name="Text 11"/>
          <p:cNvSpPr/>
          <p:nvPr/>
        </p:nvSpPr>
        <p:spPr>
          <a:xfrm>
            <a:off x="7863840" y="3886200"/>
            <a:ext cx="3657600" cy="91440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The zero-divide fallback became a one. Different number, different hash, every bound requirement flagged.</a:t>
            </a:r>
            <a:endParaRPr lang="en-US" sz="1200" dirty="0"/>
          </a:p>
        </p:txBody>
      </p:sp>
      <p:sp>
        <p:nvSpPr>
          <p:cNvPr id="14" name="Text 12"/>
          <p:cNvSpPr/>
          <p:nvPr/>
        </p:nvSpPr>
        <p:spPr>
          <a:xfrm>
            <a:off x="640080" y="525780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This is not a heuristic. Identical hash means identical logic, and that is what makes rename detection provable rather than guessed.</a:t>
            </a:r>
            <a:endParaRPr lang="en-US" sz="1300" dirty="0"/>
          </a:p>
        </p:txBody>
      </p:sp>
      <p:sp>
        <p:nvSpPr>
          <p:cNvPr id="15" name="Text 13"/>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Drift, on two real model versions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ClinicalTrialSafety v1 → v2, extracted live — every figure below is from that run</a:t>
            </a:r>
            <a:endParaRPr lang="en-US" sz="1400" dirty="0"/>
          </a:p>
        </p:txBody>
      </p:sp>
      <p:sp>
        <p:nvSpPr>
          <p:cNvPr id="4" name="Shape 2"/>
          <p:cNvSpPr/>
          <p:nvPr/>
        </p:nvSpPr>
        <p:spPr>
          <a:xfrm>
            <a:off x="640080" y="1783080"/>
            <a:ext cx="214884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92808"/>
            <a:ext cx="21122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1</a:t>
            </a:r>
            <a:endParaRPr lang="en-US" sz="3400" dirty="0"/>
          </a:p>
        </p:txBody>
      </p:sp>
      <p:sp>
        <p:nvSpPr>
          <p:cNvPr id="6" name="Text 4"/>
          <p:cNvSpPr/>
          <p:nvPr/>
        </p:nvSpPr>
        <p:spPr>
          <a:xfrm>
            <a:off x="694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added</a:t>
            </a:r>
            <a:endParaRPr lang="en-US" sz="1050" dirty="0"/>
          </a:p>
        </p:txBody>
      </p:sp>
      <p:sp>
        <p:nvSpPr>
          <p:cNvPr id="7" name="Shape 5"/>
          <p:cNvSpPr/>
          <p:nvPr/>
        </p:nvSpPr>
        <p:spPr>
          <a:xfrm>
            <a:off x="2926080" y="1783080"/>
            <a:ext cx="214884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2944368" y="1892808"/>
            <a:ext cx="211226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2980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removed</a:t>
            </a:r>
            <a:endParaRPr lang="en-US" sz="1050" dirty="0"/>
          </a:p>
        </p:txBody>
      </p:sp>
      <p:sp>
        <p:nvSpPr>
          <p:cNvPr id="10" name="Shape 8"/>
          <p:cNvSpPr/>
          <p:nvPr/>
        </p:nvSpPr>
        <p:spPr>
          <a:xfrm>
            <a:off x="5212080" y="1783080"/>
            <a:ext cx="214884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5230368" y="1892808"/>
            <a:ext cx="211226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4</a:t>
            </a:r>
            <a:endParaRPr lang="en-US" sz="3400" dirty="0"/>
          </a:p>
        </p:txBody>
      </p:sp>
      <p:sp>
        <p:nvSpPr>
          <p:cNvPr id="12" name="Text 10"/>
          <p:cNvSpPr/>
          <p:nvPr/>
        </p:nvSpPr>
        <p:spPr>
          <a:xfrm>
            <a:off x="5266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changed</a:t>
            </a:r>
            <a:endParaRPr lang="en-US" sz="1050" dirty="0"/>
          </a:p>
        </p:txBody>
      </p:sp>
      <p:sp>
        <p:nvSpPr>
          <p:cNvPr id="13" name="Shape 11"/>
          <p:cNvSpPr/>
          <p:nvPr/>
        </p:nvSpPr>
        <p:spPr>
          <a:xfrm>
            <a:off x="7498080" y="1783080"/>
            <a:ext cx="21488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7516368" y="1892808"/>
            <a:ext cx="211226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103</a:t>
            </a:r>
            <a:endParaRPr lang="en-US" sz="3400" dirty="0"/>
          </a:p>
        </p:txBody>
      </p:sp>
      <p:sp>
        <p:nvSpPr>
          <p:cNvPr id="15" name="Text 13"/>
          <p:cNvSpPr/>
          <p:nvPr/>
        </p:nvSpPr>
        <p:spPr>
          <a:xfrm>
            <a:off x="7552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unchanged</a:t>
            </a:r>
            <a:endParaRPr lang="en-US" sz="1050" dirty="0"/>
          </a:p>
        </p:txBody>
      </p:sp>
      <p:sp>
        <p:nvSpPr>
          <p:cNvPr id="16" name="Shape 14"/>
          <p:cNvSpPr/>
          <p:nvPr/>
        </p:nvSpPr>
        <p:spPr>
          <a:xfrm>
            <a:off x="9784080" y="1783080"/>
            <a:ext cx="1828800" cy="1143000"/>
          </a:xfrm>
          <a:prstGeom prst="roundRect">
            <a:avLst>
              <a:gd name="adj" fmla="val 3200"/>
            </a:avLst>
          </a:prstGeom>
          <a:solidFill>
            <a:srgbClr val="FFFFFF"/>
          </a:solidFill>
          <a:ln w="9525">
            <a:solidFill>
              <a:srgbClr val="D3DBE0"/>
            </a:solidFill>
            <a:prstDash val="solid"/>
          </a:ln>
        </p:spPr>
      </p:sp>
      <p:sp>
        <p:nvSpPr>
          <p:cNvPr id="17" name="Text 15"/>
          <p:cNvSpPr/>
          <p:nvPr/>
        </p:nvSpPr>
        <p:spPr>
          <a:xfrm>
            <a:off x="9802368" y="1892808"/>
            <a:ext cx="179222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8</a:t>
            </a:r>
            <a:endParaRPr lang="en-US" sz="3400" dirty="0"/>
          </a:p>
        </p:txBody>
      </p:sp>
      <p:sp>
        <p:nvSpPr>
          <p:cNvPr id="18" name="Text 16"/>
          <p:cNvSpPr/>
          <p:nvPr/>
        </p:nvSpPr>
        <p:spPr>
          <a:xfrm>
            <a:off x="9838944" y="2478024"/>
            <a:ext cx="171907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requirements now in question</a:t>
            </a:r>
            <a:endParaRPr lang="en-US" sz="1050" dirty="0"/>
          </a:p>
        </p:txBody>
      </p:sp>
      <p:sp>
        <p:nvSpPr>
          <p:cNvPr id="19" name="Shape 17"/>
          <p:cNvSpPr/>
          <p:nvPr/>
        </p:nvSpPr>
        <p:spPr>
          <a:xfrm>
            <a:off x="640080" y="3200400"/>
            <a:ext cx="5394960" cy="2468880"/>
          </a:xfrm>
          <a:prstGeom prst="roundRect">
            <a:avLst>
              <a:gd name="adj" fmla="val 1481"/>
            </a:avLst>
          </a:prstGeom>
          <a:solidFill>
            <a:srgbClr val="FFFFFF"/>
          </a:solidFill>
          <a:ln w="9525">
            <a:solidFill>
              <a:srgbClr val="D3DBE0"/>
            </a:solidFill>
            <a:prstDash val="solid"/>
          </a:ln>
        </p:spPr>
      </p:sp>
      <p:sp>
        <p:nvSpPr>
          <p:cNvPr id="20" name="Text 18"/>
          <p:cNvSpPr/>
          <p:nvPr/>
        </p:nvSpPr>
        <p:spPr>
          <a:xfrm>
            <a:off x="914400" y="3383280"/>
            <a:ext cx="484632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What a diff cannot tell you</a:t>
            </a:r>
            <a:endParaRPr lang="en-US" sz="1500" dirty="0"/>
          </a:p>
        </p:txBody>
      </p:sp>
      <p:sp>
        <p:nvSpPr>
          <p:cNvPr id="21" name="Text 19"/>
          <p:cNvSpPr/>
          <p:nvPr/>
        </p:nvSpPr>
        <p:spPr>
          <a:xfrm>
            <a:off x="914400" y="3794760"/>
            <a:ext cx="4846320" cy="128016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Listing changed objects is what any diff does. Naming the eight requirements whose evidence sits on those objects is what turns a diff into "this document may no longer describe this model".</a:t>
            </a:r>
            <a:endParaRPr lang="en-US" sz="1250" dirty="0"/>
          </a:p>
        </p:txBody>
      </p:sp>
      <p:sp>
        <p:nvSpPr>
          <p:cNvPr id="22" name="Text 20"/>
          <p:cNvSpPr/>
          <p:nvPr/>
        </p:nvSpPr>
        <p:spPr>
          <a:xfrm>
            <a:off x="914400" y="5029200"/>
            <a:ext cx="4846320" cy="548640"/>
          </a:xfrm>
          <a:prstGeom prst="rect">
            <a:avLst/>
          </a:prstGeom>
          <a:noFill/>
          <a:ln/>
        </p:spPr>
        <p:txBody>
          <a:bodyPr wrap="square" lIns="0" tIns="0" rIns="0" bIns="0" rtlCol="0" anchor="ctr"/>
          <a:lstStyle/>
          <a:p>
            <a:pPr indent="0" marL="0">
              <a:buNone/>
            </a:pPr>
            <a:r>
              <a:rPr lang="en-US" sz="1100" i="1" dirty="0">
                <a:solidFill>
                  <a:srgbClr val="8896A0"/>
                </a:solidFill>
                <a:latin typeface="Calibri" pitchFamily="34" charset="0"/>
                <a:ea typeface="Calibri" pitchFamily="34" charset="-122"/>
                <a:cs typeface="Calibri" pitchFamily="34" charset="-120"/>
              </a:rPr>
              <a:t>Requirement ids come from object identity, never content — so the id survives the change and the report can point at it.</a:t>
            </a:r>
            <a:endParaRPr lang="en-US" sz="1100" dirty="0"/>
          </a:p>
        </p:txBody>
      </p:sp>
      <p:sp>
        <p:nvSpPr>
          <p:cNvPr id="23" name="Shape 21"/>
          <p:cNvSpPr/>
          <p:nvPr/>
        </p:nvSpPr>
        <p:spPr>
          <a:xfrm>
            <a:off x="6309360" y="3200400"/>
            <a:ext cx="5212080" cy="2468880"/>
          </a:xfrm>
          <a:prstGeom prst="roundRect">
            <a:avLst>
              <a:gd name="adj" fmla="val 1481"/>
            </a:avLst>
          </a:prstGeom>
          <a:solidFill>
            <a:srgbClr val="E4F3EC"/>
          </a:solidFill>
          <a:ln w="9525">
            <a:solidFill>
              <a:srgbClr val="D3DBE0"/>
            </a:solidFill>
            <a:prstDash val="solid"/>
          </a:ln>
        </p:spPr>
      </p:sp>
      <p:sp>
        <p:nvSpPr>
          <p:cNvPr id="24" name="Text 22"/>
          <p:cNvSpPr/>
          <p:nvPr/>
        </p:nvSpPr>
        <p:spPr>
          <a:xfrm>
            <a:off x="6583680" y="3383280"/>
            <a:ext cx="466344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A rename is proven, not guessed</a:t>
            </a:r>
            <a:endParaRPr lang="en-US" sz="1500" dirty="0"/>
          </a:p>
        </p:txBody>
      </p:sp>
      <p:sp>
        <p:nvSpPr>
          <p:cNvPr id="25" name="Text 23"/>
          <p:cNvSpPr/>
          <p:nvPr/>
        </p:nvSpPr>
        <p:spPr>
          <a:xfrm>
            <a:off x="6583680" y="3794760"/>
            <a:ext cx="4663440" cy="100584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Same fingerprint under a new name means the logic is provably untouched. Those requirements need a reference update, not re-validation.</a:t>
            </a:r>
            <a:endParaRPr lang="en-US" sz="1250" dirty="0"/>
          </a:p>
        </p:txBody>
      </p:sp>
      <p:sp>
        <p:nvSpPr>
          <p:cNvPr id="26" name="Text 24"/>
          <p:cNvSpPr/>
          <p:nvPr/>
        </p:nvSpPr>
        <p:spPr>
          <a:xfrm>
            <a:off x="6583680" y="4846320"/>
            <a:ext cx="4663440" cy="731520"/>
          </a:xfrm>
          <a:prstGeom prst="rect">
            <a:avLst/>
          </a:prstGeom>
          <a:noFill/>
          <a:ln/>
        </p:spPr>
        <p:txBody>
          <a:bodyPr wrap="square" lIns="0" tIns="0" rIns="0" bIns="0" rtlCol="0" anchor="ctr"/>
          <a:lstStyle/>
          <a:p>
            <a:pPr indent="0" marL="0">
              <a:buNone/>
            </a:pPr>
            <a:r>
              <a:rPr lang="en-US" sz="1150" i="1" dirty="0">
                <a:solidFill>
                  <a:srgbClr val="2E7D5B"/>
                </a:solidFill>
                <a:latin typeface="Calibri" pitchFamily="34" charset="0"/>
                <a:ea typeface="Calibri" pitchFamily="34" charset="-122"/>
                <a:cs typeface="Calibri" pitchFamily="34" charset="-120"/>
              </a:rPr>
              <a:t>Splitting those two apart is the difference between a reviewer re-checking eight statements and re-checking a hundred.</a:t>
            </a:r>
            <a:endParaRPr lang="en-US" sz="1150" dirty="0"/>
          </a:p>
        </p:txBody>
      </p:sp>
      <p:sp>
        <p:nvSpPr>
          <p:cNvPr id="27" name="Text 2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0542a4dda013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same KPI, defined twice</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QualityControl in Power BI against the same metrics in the warehouse — run live against DuckDB</a:t>
            </a:r>
            <a:endParaRPr lang="en-US" sz="1400" dirty="0"/>
          </a:p>
        </p:txBody>
      </p:sp>
      <p:sp>
        <p:nvSpPr>
          <p:cNvPr id="4" name="Shape 2"/>
          <p:cNvSpPr/>
          <p:nvPr/>
        </p:nvSpPr>
        <p:spPr>
          <a:xfrm>
            <a:off x="640080" y="1737360"/>
            <a:ext cx="265176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470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6</a:t>
            </a:r>
            <a:endParaRPr lang="en-US" sz="3400" dirty="0"/>
          </a:p>
        </p:txBody>
      </p:sp>
      <p:sp>
        <p:nvSpPr>
          <p:cNvPr id="6" name="Text 4"/>
          <p:cNvSpPr/>
          <p:nvPr/>
        </p:nvSpPr>
        <p:spPr>
          <a:xfrm>
            <a:off x="69494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defined on both</a:t>
            </a:r>
            <a:endParaRPr lang="en-US" sz="1050" dirty="0"/>
          </a:p>
        </p:txBody>
      </p:sp>
      <p:sp>
        <p:nvSpPr>
          <p:cNvPr id="7" name="Shape 5"/>
          <p:cNvSpPr/>
          <p:nvPr/>
        </p:nvSpPr>
        <p:spPr>
          <a:xfrm>
            <a:off x="3474720" y="1737360"/>
            <a:ext cx="265176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3493008" y="1847088"/>
            <a:ext cx="261518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352958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divergent</a:t>
            </a:r>
            <a:endParaRPr lang="en-US" sz="1050" dirty="0"/>
          </a:p>
        </p:txBody>
      </p:sp>
      <p:sp>
        <p:nvSpPr>
          <p:cNvPr id="10" name="Shape 8"/>
          <p:cNvSpPr/>
          <p:nvPr/>
        </p:nvSpPr>
        <p:spPr>
          <a:xfrm>
            <a:off x="6309360" y="1737360"/>
            <a:ext cx="265176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6327648" y="1847088"/>
            <a:ext cx="261518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636422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needs review</a:t>
            </a:r>
            <a:endParaRPr lang="en-US" sz="1050" dirty="0"/>
          </a:p>
        </p:txBody>
      </p:sp>
      <p:sp>
        <p:nvSpPr>
          <p:cNvPr id="13" name="Shape 11"/>
          <p:cNvSpPr/>
          <p:nvPr/>
        </p:nvSpPr>
        <p:spPr>
          <a:xfrm>
            <a:off x="9144000" y="1737360"/>
            <a:ext cx="23774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9162288" y="1847088"/>
            <a:ext cx="23408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4</a:t>
            </a:r>
            <a:endParaRPr lang="en-US" sz="3400" dirty="0"/>
          </a:p>
        </p:txBody>
      </p:sp>
      <p:sp>
        <p:nvSpPr>
          <p:cNvPr id="15" name="Text 13"/>
          <p:cNvSpPr/>
          <p:nvPr/>
        </p:nvSpPr>
        <p:spPr>
          <a:xfrm>
            <a:off x="9198864" y="24323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consistent</a:t>
            </a:r>
            <a:endParaRPr lang="en-US" sz="1050" dirty="0"/>
          </a:p>
        </p:txBody>
      </p:sp>
      <p:sp>
        <p:nvSpPr>
          <p:cNvPr id="16" name="Shape 14"/>
          <p:cNvSpPr/>
          <p:nvPr/>
        </p:nvSpPr>
        <p:spPr>
          <a:xfrm>
            <a:off x="640080" y="3108960"/>
            <a:ext cx="10881360" cy="1371600"/>
          </a:xfrm>
          <a:prstGeom prst="roundRect">
            <a:avLst>
              <a:gd name="adj" fmla="val 2667"/>
            </a:avLst>
          </a:prstGeom>
          <a:solidFill>
            <a:srgbClr val="FBE7E7"/>
          </a:solidFill>
          <a:ln w="9525">
            <a:solidFill>
              <a:srgbClr val="D3DBE0"/>
            </a:solidFill>
            <a:prstDash val="solid"/>
          </a:ln>
        </p:spPr>
      </p:sp>
      <p:sp>
        <p:nvSpPr>
          <p:cNvPr id="17" name="Text 15"/>
          <p:cNvSpPr/>
          <p:nvPr/>
        </p:nvSpPr>
        <p:spPr>
          <a:xfrm>
            <a:off x="914400" y="3273552"/>
            <a:ext cx="4572000" cy="320040"/>
          </a:xfrm>
          <a:prstGeom prst="rect">
            <a:avLst/>
          </a:prstGeom>
          <a:noFill/>
          <a:ln/>
        </p:spPr>
        <p:txBody>
          <a:bodyPr wrap="square" lIns="0" tIns="0" rIns="0" bIns="0" rtlCol="0" anchor="ctr"/>
          <a:lstStyle/>
          <a:p>
            <a:pPr indent="0" marL="0">
              <a:buNone/>
            </a:pPr>
            <a:r>
              <a:rPr lang="en-US" sz="1400" b="1" dirty="0">
                <a:solidFill>
                  <a:srgbClr val="A33B3B"/>
                </a:solidFill>
                <a:latin typeface="Calibri" pitchFamily="34" charset="0"/>
                <a:ea typeface="Calibri" pitchFamily="34" charset="-122"/>
                <a:cs typeface="Calibri" pitchFamily="34" charset="-120"/>
              </a:rPr>
              <a:t>OOS Rate — divergent</a:t>
            </a:r>
            <a:endParaRPr lang="en-US" sz="1400" dirty="0"/>
          </a:p>
        </p:txBody>
      </p:sp>
      <p:sp>
        <p:nvSpPr>
          <p:cNvPr id="18" name="Text 16"/>
          <p:cNvSpPr/>
          <p:nvPr/>
        </p:nvSpPr>
        <p:spPr>
          <a:xfrm>
            <a:off x="914400" y="3639312"/>
            <a:ext cx="10058400" cy="320040"/>
          </a:xfrm>
          <a:prstGeom prst="rect">
            <a:avLst/>
          </a:prstGeom>
          <a:noFill/>
          <a:ln/>
        </p:spPr>
        <p:txBody>
          <a:bodyPr wrap="square" lIns="0" tIns="0" rIns="0" bIns="0" rtlCol="0" anchor="ctr"/>
          <a:lstStyle/>
          <a:p>
            <a:pPr indent="0" marL="0">
              <a:buNone/>
            </a:pPr>
            <a:r>
              <a:rPr lang="en-US" sz="1200" dirty="0">
                <a:solidFill>
                  <a:srgbClr val="14202B"/>
                </a:solidFill>
                <a:latin typeface="Courier New" pitchFamily="34" charset="0"/>
                <a:ea typeface="Courier New" pitchFamily="34" charset="-122"/>
                <a:cs typeface="Courier New" pitchFamily="34" charset="-120"/>
              </a:rPr>
              <a:t>Power BI reads testresult;  the warehouse reads batch, testresult</a:t>
            </a:r>
            <a:endParaRPr lang="en-US" sz="1200" dirty="0"/>
          </a:p>
        </p:txBody>
      </p:sp>
      <p:sp>
        <p:nvSpPr>
          <p:cNvPr id="19" name="Text 17"/>
          <p:cNvSpPr/>
          <p:nvPr/>
        </p:nvSpPr>
        <p:spPr>
          <a:xfrm>
            <a:off x="914400" y="3968496"/>
            <a:ext cx="10058400" cy="457200"/>
          </a:xfrm>
          <a:prstGeom prst="rect">
            <a:avLst/>
          </a:prstGeom>
          <a:noFill/>
          <a:ln/>
        </p:spPr>
        <p:txBody>
          <a:bodyPr wrap="square" lIns="0" tIns="0" rIns="0" bIns="0" rtlCol="0" anchor="ctr"/>
          <a:lstStyle/>
          <a:p>
            <a:pPr indent="0" marL="0">
              <a:buNone/>
            </a:pPr>
            <a:r>
              <a:rPr lang="en-US" sz="1200" dirty="0">
                <a:solidFill>
                  <a:srgbClr val="5C6B74"/>
                </a:solidFill>
                <a:latin typeface="Calibri" pitchFamily="34" charset="0"/>
                <a:ea typeface="Calibri" pitchFamily="34" charset="-122"/>
                <a:cs typeface="Calibri" pitchFamily="34" charset="-120"/>
              </a:rPr>
              <a:t>The two divide by different denominators. They will report different numbers, and no fingerprint could have found it — DAX and SQL never hash alike, so what is compared is what each definition structurally reads.</a:t>
            </a:r>
            <a:endParaRPr lang="en-US" sz="1200" dirty="0"/>
          </a:p>
        </p:txBody>
      </p:sp>
      <p:sp>
        <p:nvSpPr>
          <p:cNvPr id="20" name="Shape 18"/>
          <p:cNvSpPr/>
          <p:nvPr/>
        </p:nvSpPr>
        <p:spPr>
          <a:xfrm>
            <a:off x="640080" y="4709160"/>
            <a:ext cx="10881360" cy="914400"/>
          </a:xfrm>
          <a:prstGeom prst="roundRect">
            <a:avLst>
              <a:gd name="adj" fmla="val 4000"/>
            </a:avLst>
          </a:prstGeom>
          <a:solidFill>
            <a:srgbClr val="FFFFFF"/>
          </a:solidFill>
          <a:ln w="9525">
            <a:solidFill>
              <a:srgbClr val="D3DBE0"/>
            </a:solidFill>
            <a:prstDash val="solid"/>
          </a:ln>
        </p:spPr>
      </p:sp>
      <p:sp>
        <p:nvSpPr>
          <p:cNvPr id="21" name="Text 19"/>
          <p:cNvSpPr/>
          <p:nvPr/>
        </p:nvSpPr>
        <p:spPr>
          <a:xfrm>
            <a:off x="914400" y="4828032"/>
            <a:ext cx="10058400" cy="274320"/>
          </a:xfrm>
          <a:prstGeom prst="rect">
            <a:avLst/>
          </a:prstGeom>
          <a:noFill/>
          <a:ln/>
        </p:spPr>
        <p:txBody>
          <a:bodyPr wrap="square" lIns="0" tIns="0" rIns="0" bIns="0" rtlCol="0" anchor="ctr"/>
          <a:lstStyle/>
          <a:p>
            <a:pPr indent="0" marL="0">
              <a:buNone/>
            </a:pPr>
            <a:r>
              <a:rPr lang="en-US" sz="1350" b="1" dirty="0">
                <a:solidFill>
                  <a:srgbClr val="14202B"/>
                </a:solidFill>
                <a:latin typeface="Calibri" pitchFamily="34" charset="0"/>
                <a:ea typeface="Calibri" pitchFamily="34" charset="-122"/>
                <a:cs typeface="Calibri" pitchFamily="34" charset="-120"/>
              </a:rPr>
              <a:t>Three verdicts, not pass/fail.</a:t>
            </a:r>
            <a:endParaRPr lang="en-US" sz="1350" dirty="0"/>
          </a:p>
        </p:txBody>
      </p:sp>
      <p:sp>
        <p:nvSpPr>
          <p:cNvPr id="22" name="Text 20"/>
          <p:cNvSpPr/>
          <p:nvPr/>
        </p:nvSpPr>
        <p:spPr>
          <a:xfrm>
            <a:off x="914400" y="5120640"/>
            <a:ext cx="10058400" cy="411480"/>
          </a:xfrm>
          <a:prstGeom prst="rect">
            <a:avLst/>
          </a:prstGeom>
          <a:noFill/>
          <a:ln/>
        </p:spPr>
        <p:txBody>
          <a:bodyPr wrap="square" lIns="0" tIns="0" rIns="0" bIns="0" rtlCol="0" anchor="ctr"/>
          <a:lstStyle/>
          <a:p>
            <a:pPr indent="0" marL="0">
              <a:lnSpc>
                <a:spcPct val="110000"/>
              </a:lnSpc>
              <a:buNone/>
            </a:pPr>
            <a:r>
              <a:rPr lang="en-US" sz="1150" dirty="0">
                <a:solidFill>
                  <a:srgbClr val="5C6B74"/>
                </a:solidFill>
                <a:latin typeface="Calibri" pitchFamily="34" charset="0"/>
                <a:ea typeface="Calibri" pitchFamily="34" charset="-122"/>
                <a:cs typeface="Calibri" pitchFamily="34" charset="-120"/>
              </a:rPr>
              <a:t>Deciding whether two arbitrary expressions in two languages compute the same number is undecidable in general. "Needs review" is the honest answer for a difference that may or may not change the number.</a:t>
            </a:r>
            <a:endParaRPr lang="en-US" sz="1150" dirty="0"/>
          </a:p>
        </p:txBody>
      </p:sp>
      <p:sp>
        <p:nvSpPr>
          <p:cNvPr id="23" name="Text 21"/>
          <p:cNvSpPr/>
          <p:nvPr/>
        </p:nvSpPr>
        <p:spPr>
          <a:xfrm>
            <a:off x="640080" y="5779008"/>
            <a:ext cx="3200400" cy="274320"/>
          </a:xfrm>
          <a:prstGeom prst="rect">
            <a:avLst/>
          </a:prstGeom>
          <a:noFill/>
          <a:ln/>
        </p:spPr>
        <p:txBody>
          <a:bodyPr wrap="square" lIns="0" tIns="0" rIns="0" bIns="0" rtlCol="0" anchor="ctr"/>
          <a:lstStyle/>
          <a:p>
            <a:pPr indent="0" marL="0">
              <a:buNone/>
            </a:pPr>
            <a:r>
              <a:rPr lang="en-US" sz="1150" b="1" dirty="0">
                <a:solidFill>
                  <a:srgbClr val="14202B"/>
                </a:solidFill>
                <a:latin typeface="Calibri" pitchFamily="34" charset="0"/>
                <a:ea typeface="Calibri" pitchFamily="34" charset="-122"/>
                <a:cs typeface="Calibri" pitchFamily="34" charset="-120"/>
              </a:rPr>
              <a:t>Same extraction path, four more platforms:</a:t>
            </a:r>
            <a:endParaRPr lang="en-US" sz="1150" dirty="0"/>
          </a:p>
        </p:txBody>
      </p:sp>
      <p:sp>
        <p:nvSpPr>
          <p:cNvPr id="24" name="Shape 22"/>
          <p:cNvSpPr/>
          <p:nvPr/>
        </p:nvSpPr>
        <p:spPr>
          <a:xfrm>
            <a:off x="3977640" y="5760720"/>
            <a:ext cx="1371600" cy="301752"/>
          </a:xfrm>
          <a:prstGeom prst="roundRect">
            <a:avLst>
              <a:gd name="adj" fmla="val 15152"/>
            </a:avLst>
          </a:prstGeom>
          <a:solidFill>
            <a:srgbClr val="DCE8F2"/>
          </a:solidFill>
          <a:ln w="9525">
            <a:solidFill>
              <a:srgbClr val="D3DBE0"/>
            </a:solidFill>
            <a:prstDash val="solid"/>
          </a:ln>
        </p:spPr>
      </p:sp>
      <p:sp>
        <p:nvSpPr>
          <p:cNvPr id="25" name="Text 23"/>
          <p:cNvSpPr/>
          <p:nvPr/>
        </p:nvSpPr>
        <p:spPr>
          <a:xfrm>
            <a:off x="3977640"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Snowflake</a:t>
            </a:r>
            <a:endParaRPr lang="en-US" sz="1050" dirty="0"/>
          </a:p>
        </p:txBody>
      </p:sp>
      <p:sp>
        <p:nvSpPr>
          <p:cNvPr id="26" name="Shape 24"/>
          <p:cNvSpPr/>
          <p:nvPr/>
        </p:nvSpPr>
        <p:spPr>
          <a:xfrm>
            <a:off x="5458968" y="5760720"/>
            <a:ext cx="1371600" cy="301752"/>
          </a:xfrm>
          <a:prstGeom prst="roundRect">
            <a:avLst>
              <a:gd name="adj" fmla="val 15152"/>
            </a:avLst>
          </a:prstGeom>
          <a:solidFill>
            <a:srgbClr val="DCE8F2"/>
          </a:solidFill>
          <a:ln w="9525">
            <a:solidFill>
              <a:srgbClr val="D3DBE0"/>
            </a:solidFill>
            <a:prstDash val="solid"/>
          </a:ln>
        </p:spPr>
      </p:sp>
      <p:sp>
        <p:nvSpPr>
          <p:cNvPr id="27" name="Text 25"/>
          <p:cNvSpPr/>
          <p:nvPr/>
        </p:nvSpPr>
        <p:spPr>
          <a:xfrm>
            <a:off x="5458968"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Databricks</a:t>
            </a:r>
            <a:endParaRPr lang="en-US" sz="1050" dirty="0"/>
          </a:p>
        </p:txBody>
      </p:sp>
      <p:sp>
        <p:nvSpPr>
          <p:cNvPr id="28" name="Shape 26"/>
          <p:cNvSpPr/>
          <p:nvPr/>
        </p:nvSpPr>
        <p:spPr>
          <a:xfrm>
            <a:off x="6940296" y="5760720"/>
            <a:ext cx="1371600" cy="301752"/>
          </a:xfrm>
          <a:prstGeom prst="roundRect">
            <a:avLst>
              <a:gd name="adj" fmla="val 15152"/>
            </a:avLst>
          </a:prstGeom>
          <a:solidFill>
            <a:srgbClr val="DCE8F2"/>
          </a:solidFill>
          <a:ln w="9525">
            <a:solidFill>
              <a:srgbClr val="D3DBE0"/>
            </a:solidFill>
            <a:prstDash val="solid"/>
          </a:ln>
        </p:spPr>
      </p:sp>
      <p:sp>
        <p:nvSpPr>
          <p:cNvPr id="29" name="Text 27"/>
          <p:cNvSpPr/>
          <p:nvPr/>
        </p:nvSpPr>
        <p:spPr>
          <a:xfrm>
            <a:off x="6940296"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Redshift</a:t>
            </a:r>
            <a:endParaRPr lang="en-US" sz="1050" dirty="0"/>
          </a:p>
        </p:txBody>
      </p:sp>
      <p:sp>
        <p:nvSpPr>
          <p:cNvPr id="30" name="Shape 28"/>
          <p:cNvSpPr/>
          <p:nvPr/>
        </p:nvSpPr>
        <p:spPr>
          <a:xfrm>
            <a:off x="8421624" y="5760720"/>
            <a:ext cx="1371600" cy="301752"/>
          </a:xfrm>
          <a:prstGeom prst="roundRect">
            <a:avLst>
              <a:gd name="adj" fmla="val 15152"/>
            </a:avLst>
          </a:prstGeom>
          <a:solidFill>
            <a:srgbClr val="DCE8F2"/>
          </a:solidFill>
          <a:ln w="9525">
            <a:solidFill>
              <a:srgbClr val="D3DBE0"/>
            </a:solidFill>
            <a:prstDash val="solid"/>
          </a:ln>
        </p:spPr>
      </p:sp>
      <p:sp>
        <p:nvSpPr>
          <p:cNvPr id="31" name="Text 29"/>
          <p:cNvSpPr/>
          <p:nvPr/>
        </p:nvSpPr>
        <p:spPr>
          <a:xfrm>
            <a:off x="8421624"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Athena</a:t>
            </a:r>
            <a:endParaRPr lang="en-US" sz="1050" dirty="0"/>
          </a:p>
        </p:txBody>
      </p:sp>
      <p:sp>
        <p:nvSpPr>
          <p:cNvPr id="32" name="Text 30"/>
          <p:cNvSpPr/>
          <p:nvPr/>
        </p:nvSpPr>
        <p:spPr>
          <a:xfrm>
            <a:off x="9966960" y="5779008"/>
            <a:ext cx="2011680" cy="274320"/>
          </a:xfrm>
          <a:prstGeom prst="rect">
            <a:avLst/>
          </a:prstGeom>
          <a:noFill/>
          <a:ln/>
        </p:spPr>
        <p:txBody>
          <a:bodyPr wrap="square" lIns="0" tIns="0" rIns="0" bIns="0" rtlCol="0" anchor="ctr"/>
          <a:lstStyle/>
          <a:p>
            <a:pPr indent="0" marL="0">
              <a:buNone/>
            </a:pPr>
            <a:r>
              <a:rPr lang="en-US" sz="850" dirty="0">
                <a:solidFill>
                  <a:srgbClr val="5C6B74"/>
                </a:solidFill>
                <a:latin typeface="Calibri" pitchFamily="34" charset="0"/>
                <a:ea typeface="Calibri" pitchFamily="34" charset="-122"/>
                <a:cs typeface="Calibri" pitchFamily="34" charset="-120"/>
              </a:rPr>
              <a:t>information_schema + sqlglot — DuckDB needs no credentials, so the path is proven without one</a:t>
            </a:r>
            <a:endParaRPr lang="en-US" sz="850" dirty="0"/>
          </a:p>
        </p:txBody>
      </p:sp>
      <p:sp>
        <p:nvSpPr>
          <p:cNvPr id="33" name="Text 3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batch_yield_pct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it refuses to claim</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The feature that is hardest to demo and matters most in a regulated industry</a:t>
            </a:r>
            <a:endParaRPr lang="en-US" sz="1300" dirty="0"/>
          </a:p>
        </p:txBody>
      </p:sp>
      <p:sp>
        <p:nvSpPr>
          <p:cNvPr id="4" name="Shape 2"/>
          <p:cNvSpPr/>
          <p:nvPr/>
        </p:nvSpPr>
        <p:spPr>
          <a:xfrm>
            <a:off x="640080" y="1828800"/>
            <a:ext cx="3429000" cy="3200400"/>
          </a:xfrm>
          <a:prstGeom prst="roundRect">
            <a:avLst>
              <a:gd name="adj" fmla="val 1143"/>
            </a:avLst>
          </a:prstGeom>
          <a:solidFill>
            <a:srgbClr val="171E22"/>
          </a:solidFill>
          <a:ln w="9525">
            <a:solidFill>
              <a:srgbClr val="2A343A"/>
            </a:solidFill>
            <a:prstDash val="solid"/>
          </a:ln>
        </p:spPr>
      </p:sp>
      <p:sp>
        <p:nvSpPr>
          <p:cNvPr id="5" name="Shape 3"/>
          <p:cNvSpPr/>
          <p:nvPr/>
        </p:nvSpPr>
        <p:spPr>
          <a:xfrm>
            <a:off x="914400" y="2103120"/>
            <a:ext cx="329184" cy="329184"/>
          </a:xfrm>
          <a:prstGeom prst="ellipse">
            <a:avLst/>
          </a:prstGeom>
          <a:solidFill>
            <a:srgbClr val="2C5985"/>
          </a:solidFill>
          <a:ln/>
        </p:spPr>
      </p:sp>
      <p:sp>
        <p:nvSpPr>
          <p:cNvPr id="6" name="Text 4"/>
          <p:cNvSpPr/>
          <p:nvPr/>
        </p:nvSpPr>
        <p:spPr>
          <a:xfrm>
            <a:off x="91440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Says what it did not read</a:t>
            </a:r>
            <a:endParaRPr lang="en-US" sz="1450" dirty="0"/>
          </a:p>
        </p:txBody>
      </p:sp>
      <p:sp>
        <p:nvSpPr>
          <p:cNvPr id="7" name="Text 5"/>
          <p:cNvSpPr/>
          <p:nvPr/>
        </p:nvSpPr>
        <p:spPr>
          <a:xfrm>
            <a:off x="91440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Roles, calculation groups, perspectives and translations are counted and named. An unread calculation group means a measure's documented expression is not the whole story — and the reader is told.</a:t>
            </a:r>
            <a:endParaRPr lang="en-US" sz="1150" dirty="0"/>
          </a:p>
        </p:txBody>
      </p:sp>
      <p:sp>
        <p:nvSpPr>
          <p:cNvPr id="8" name="Shape 6"/>
          <p:cNvSpPr/>
          <p:nvPr/>
        </p:nvSpPr>
        <p:spPr>
          <a:xfrm>
            <a:off x="4343400" y="1828800"/>
            <a:ext cx="3429000" cy="3200400"/>
          </a:xfrm>
          <a:prstGeom prst="roundRect">
            <a:avLst>
              <a:gd name="adj" fmla="val 1143"/>
            </a:avLst>
          </a:prstGeom>
          <a:solidFill>
            <a:srgbClr val="171E22"/>
          </a:solidFill>
          <a:ln w="9525">
            <a:solidFill>
              <a:srgbClr val="2A343A"/>
            </a:solidFill>
            <a:prstDash val="solid"/>
          </a:ln>
        </p:spPr>
      </p:sp>
      <p:sp>
        <p:nvSpPr>
          <p:cNvPr id="9" name="Shape 7"/>
          <p:cNvSpPr/>
          <p:nvPr/>
        </p:nvSpPr>
        <p:spPr>
          <a:xfrm>
            <a:off x="4617720" y="2103120"/>
            <a:ext cx="329184" cy="329184"/>
          </a:xfrm>
          <a:prstGeom prst="ellipse">
            <a:avLst/>
          </a:prstGeom>
          <a:solidFill>
            <a:srgbClr val="2C5985"/>
          </a:solidFill>
          <a:ln/>
        </p:spPr>
      </p:sp>
      <p:sp>
        <p:nvSpPr>
          <p:cNvPr id="10" name="Text 8"/>
          <p:cNvSpPr/>
          <p:nvPr/>
        </p:nvSpPr>
        <p:spPr>
          <a:xfrm>
            <a:off x="461772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Marks what it inferred</a:t>
            </a:r>
            <a:endParaRPr lang="en-US" sz="1450" dirty="0"/>
          </a:p>
        </p:txBody>
      </p:sp>
      <p:sp>
        <p:nvSpPr>
          <p:cNvPr id="11" name="Text 9"/>
          <p:cNvSpPr/>
          <p:nvPr/>
        </p:nvSpPr>
        <p:spPr>
          <a:xfrm>
            <a:off x="461772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statement derived from structure rather than declared by the model is flagged low-confidence and queued, never asserted quietly.</a:t>
            </a:r>
            <a:endParaRPr lang="en-US" sz="1150" dirty="0"/>
          </a:p>
        </p:txBody>
      </p:sp>
      <p:sp>
        <p:nvSpPr>
          <p:cNvPr id="12" name="Shape 10"/>
          <p:cNvSpPr/>
          <p:nvPr/>
        </p:nvSpPr>
        <p:spPr>
          <a:xfrm>
            <a:off x="8046720" y="1828800"/>
            <a:ext cx="3429000" cy="3200400"/>
          </a:xfrm>
          <a:prstGeom prst="roundRect">
            <a:avLst>
              <a:gd name="adj" fmla="val 1143"/>
            </a:avLst>
          </a:prstGeom>
          <a:solidFill>
            <a:srgbClr val="171E22"/>
          </a:solidFill>
          <a:ln w="9525">
            <a:solidFill>
              <a:srgbClr val="2A343A"/>
            </a:solidFill>
            <a:prstDash val="solid"/>
          </a:ln>
        </p:spPr>
      </p:sp>
      <p:sp>
        <p:nvSpPr>
          <p:cNvPr id="13" name="Shape 11"/>
          <p:cNvSpPr/>
          <p:nvPr/>
        </p:nvSpPr>
        <p:spPr>
          <a:xfrm>
            <a:off x="8321040" y="2103120"/>
            <a:ext cx="329184" cy="329184"/>
          </a:xfrm>
          <a:prstGeom prst="ellipse">
            <a:avLst/>
          </a:prstGeom>
          <a:solidFill>
            <a:srgbClr val="2C5985"/>
          </a:solidFill>
          <a:ln/>
        </p:spPr>
      </p:sp>
      <p:sp>
        <p:nvSpPr>
          <p:cNvPr id="14" name="Text 12"/>
          <p:cNvSpPr/>
          <p:nvPr/>
        </p:nvSpPr>
        <p:spPr>
          <a:xfrm>
            <a:off x="832104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Lets a sign-off expire</a:t>
            </a:r>
            <a:endParaRPr lang="en-US" sz="1450" dirty="0"/>
          </a:p>
        </p:txBody>
      </p:sp>
      <p:sp>
        <p:nvSpPr>
          <p:cNvPr id="15" name="Text 13"/>
          <p:cNvSpPr/>
          <p:nvPr/>
        </p:nvSpPr>
        <p:spPr>
          <a:xfrm>
            <a:off x="832104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decision is bound to the fingerprints it was made against. Change the logic and it goes stale by itself — an approved column would carry it over silently.</a:t>
            </a:r>
            <a:endParaRPr lang="en-US" sz="1150" dirty="0"/>
          </a:p>
        </p:txBody>
      </p:sp>
      <p:sp>
        <p:nvSpPr>
          <p:cNvPr id="16" name="Text 14"/>
          <p:cNvSpPr/>
          <p:nvPr/>
        </p:nvSpPr>
        <p:spPr>
          <a:xfrm>
            <a:off x="640080" y="534924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A tool that overstates what it knows is worse than no tool, because someone will act on it. Every limit above is reported by the software itself, on screen, not written on this slide.</a:t>
            </a:r>
            <a:endParaRPr lang="en-US" sz="1300" dirty="0"/>
          </a:p>
        </p:txBody>
      </p:sp>
      <p:sp>
        <p:nvSpPr>
          <p:cNvPr id="17" name="Text 1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ee32bfb1016c</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it changes for the team</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measured against what the tool actually produces today</a:t>
            </a:r>
            <a:endParaRPr lang="en-US" sz="1400" dirty="0"/>
          </a:p>
        </p:txBody>
      </p:sp>
      <p:sp>
        <p:nvSpPr>
          <p:cNvPr id="4" name="Text 2"/>
          <p:cNvSpPr/>
          <p:nvPr/>
        </p:nvSpPr>
        <p:spPr>
          <a:xfrm>
            <a:off x="914400" y="1783080"/>
            <a:ext cx="274320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Task</a:t>
            </a:r>
            <a:endParaRPr lang="en-US" sz="1100" dirty="0"/>
          </a:p>
        </p:txBody>
      </p:sp>
      <p:sp>
        <p:nvSpPr>
          <p:cNvPr id="5" name="Text 3"/>
          <p:cNvSpPr/>
          <p:nvPr/>
        </p:nvSpPr>
        <p:spPr>
          <a:xfrm>
            <a:off x="3840480" y="1783080"/>
            <a:ext cx="347472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Today</a:t>
            </a:r>
            <a:endParaRPr lang="en-US" sz="1100" dirty="0"/>
          </a:p>
        </p:txBody>
      </p:sp>
      <p:sp>
        <p:nvSpPr>
          <p:cNvPr id="6" name="Text 4"/>
          <p:cNvSpPr/>
          <p:nvPr/>
        </p:nvSpPr>
        <p:spPr>
          <a:xfrm>
            <a:off x="7498080" y="1783080"/>
            <a:ext cx="3931920" cy="274320"/>
          </a:xfrm>
          <a:prstGeom prst="rect">
            <a:avLst/>
          </a:prstGeom>
          <a:noFill/>
          <a:ln/>
        </p:spPr>
        <p:txBody>
          <a:bodyPr wrap="square" lIns="0" tIns="0" rIns="0" bIns="0" rtlCol="0" anchor="ctr"/>
          <a:lstStyle/>
          <a:p>
            <a:pPr indent="0" marL="0">
              <a:buNone/>
            </a:pPr>
            <a:r>
              <a:rPr lang="en-US" sz="1100" b="1" spc="120" kern="0" dirty="0">
                <a:solidFill>
                  <a:srgbClr val="2C5985"/>
                </a:solidFill>
                <a:latin typeface="Calibri" pitchFamily="34" charset="0"/>
                <a:ea typeface="Calibri" pitchFamily="34" charset="-122"/>
                <a:cs typeface="Calibri" pitchFamily="34" charset="-120"/>
              </a:rPr>
              <a:t>With Concordance</a:t>
            </a:r>
            <a:endParaRPr lang="en-US" sz="1100" dirty="0"/>
          </a:p>
        </p:txBody>
      </p:sp>
      <p:sp>
        <p:nvSpPr>
          <p:cNvPr id="7" name="Shape 5"/>
          <p:cNvSpPr/>
          <p:nvPr/>
        </p:nvSpPr>
        <p:spPr>
          <a:xfrm>
            <a:off x="640080" y="2148840"/>
            <a:ext cx="10881360" cy="804672"/>
          </a:xfrm>
          <a:prstGeom prst="roundRect">
            <a:avLst>
              <a:gd name="adj" fmla="val 3409"/>
            </a:avLst>
          </a:prstGeom>
          <a:solidFill>
            <a:srgbClr val="FFFFFF"/>
          </a:solidFill>
          <a:ln w="9525">
            <a:solidFill>
              <a:srgbClr val="D3DBE0"/>
            </a:solidFill>
            <a:prstDash val="solid"/>
          </a:ln>
        </p:spPr>
      </p:sp>
      <p:sp>
        <p:nvSpPr>
          <p:cNvPr id="8" name="Text 6"/>
          <p:cNvSpPr/>
          <p:nvPr/>
        </p:nvSpPr>
        <p:spPr>
          <a:xfrm>
            <a:off x="914400" y="2368296"/>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Writing a BRD/FRD</a:t>
            </a:r>
            <a:endParaRPr lang="en-US" sz="1250" dirty="0"/>
          </a:p>
        </p:txBody>
      </p:sp>
      <p:sp>
        <p:nvSpPr>
          <p:cNvPr id="9" name="Text 7"/>
          <p:cNvSpPr/>
          <p:nvPr/>
        </p:nvSpPr>
        <p:spPr>
          <a:xfrm>
            <a:off x="3840480" y="2368296"/>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Typed by hand from interviews</a:t>
            </a:r>
            <a:endParaRPr lang="en-US" sz="1150" dirty="0"/>
          </a:p>
        </p:txBody>
      </p:sp>
      <p:sp>
        <p:nvSpPr>
          <p:cNvPr id="10" name="Text 8"/>
          <p:cNvSpPr/>
          <p:nvPr/>
        </p:nvSpPr>
        <p:spPr>
          <a:xfrm>
            <a:off x="7498080" y="2313432"/>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Derived in seconds — 137 requirements from the largest fixture model</a:t>
            </a:r>
            <a:endParaRPr lang="en-US" sz="1150" dirty="0"/>
          </a:p>
        </p:txBody>
      </p:sp>
      <p:sp>
        <p:nvSpPr>
          <p:cNvPr id="11" name="Shape 9"/>
          <p:cNvSpPr/>
          <p:nvPr/>
        </p:nvSpPr>
        <p:spPr>
          <a:xfrm>
            <a:off x="640080" y="3081528"/>
            <a:ext cx="10881360" cy="804672"/>
          </a:xfrm>
          <a:prstGeom prst="roundRect">
            <a:avLst>
              <a:gd name="adj" fmla="val 3409"/>
            </a:avLst>
          </a:prstGeom>
          <a:solidFill>
            <a:srgbClr val="FFFFFF"/>
          </a:solidFill>
          <a:ln w="9525">
            <a:solidFill>
              <a:srgbClr val="D3DBE0"/>
            </a:solidFill>
            <a:prstDash val="solid"/>
          </a:ln>
        </p:spPr>
      </p:sp>
      <p:sp>
        <p:nvSpPr>
          <p:cNvPr id="12" name="Text 10"/>
          <p:cNvSpPr/>
          <p:nvPr/>
        </p:nvSpPr>
        <p:spPr>
          <a:xfrm>
            <a:off x="914400" y="3300984"/>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Checking it is still true</a:t>
            </a:r>
            <a:endParaRPr lang="en-US" sz="1250" dirty="0"/>
          </a:p>
        </p:txBody>
      </p:sp>
      <p:sp>
        <p:nvSpPr>
          <p:cNvPr id="13" name="Text 11"/>
          <p:cNvSpPr/>
          <p:nvPr/>
        </p:nvSpPr>
        <p:spPr>
          <a:xfrm>
            <a:off x="3840480" y="3300984"/>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Nothing checks; drift found in a meeting</a:t>
            </a:r>
            <a:endParaRPr lang="en-US" sz="1150" dirty="0"/>
          </a:p>
        </p:txBody>
      </p:sp>
      <p:sp>
        <p:nvSpPr>
          <p:cNvPr id="14" name="Text 12"/>
          <p:cNvSpPr/>
          <p:nvPr/>
        </p:nvSpPr>
        <p:spPr>
          <a:xfrm>
            <a:off x="7498080" y="3246120"/>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Fingerprint comparison names the requirements in question</a:t>
            </a:r>
            <a:endParaRPr lang="en-US" sz="1150" dirty="0"/>
          </a:p>
        </p:txBody>
      </p:sp>
      <p:sp>
        <p:nvSpPr>
          <p:cNvPr id="15" name="Shape 13"/>
          <p:cNvSpPr/>
          <p:nvPr/>
        </p:nvSpPr>
        <p:spPr>
          <a:xfrm>
            <a:off x="640080" y="4014216"/>
            <a:ext cx="10881360" cy="804672"/>
          </a:xfrm>
          <a:prstGeom prst="roundRect">
            <a:avLst>
              <a:gd name="adj" fmla="val 3409"/>
            </a:avLst>
          </a:prstGeom>
          <a:solidFill>
            <a:srgbClr val="FFFFFF"/>
          </a:solidFill>
          <a:ln w="9525">
            <a:solidFill>
              <a:srgbClr val="D3DBE0"/>
            </a:solidFill>
            <a:prstDash val="solid"/>
          </a:ln>
        </p:spPr>
      </p:sp>
      <p:sp>
        <p:nvSpPr>
          <p:cNvPr id="16" name="Text 14"/>
          <p:cNvSpPr/>
          <p:nvPr/>
        </p:nvSpPr>
        <p:spPr>
          <a:xfrm>
            <a:off x="914400" y="4233672"/>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 Power BI / warehouse dispute</a:t>
            </a:r>
            <a:endParaRPr lang="en-US" sz="1250" dirty="0"/>
          </a:p>
        </p:txBody>
      </p:sp>
      <p:sp>
        <p:nvSpPr>
          <p:cNvPr id="17" name="Text 15"/>
          <p:cNvSpPr/>
          <p:nvPr/>
        </p:nvSpPr>
        <p:spPr>
          <a:xfrm>
            <a:off x="3840480" y="4233672"/>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Manual, expression by expression</a:t>
            </a:r>
            <a:endParaRPr lang="en-US" sz="1150" dirty="0"/>
          </a:p>
        </p:txBody>
      </p:sp>
      <p:sp>
        <p:nvSpPr>
          <p:cNvPr id="18" name="Text 16"/>
          <p:cNvSpPr/>
          <p:nvPr/>
        </p:nvSpPr>
        <p:spPr>
          <a:xfrm>
            <a:off x="7498080" y="4178808"/>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shared metric compared, differences named</a:t>
            </a:r>
            <a:endParaRPr lang="en-US" sz="1150" dirty="0"/>
          </a:p>
        </p:txBody>
      </p:sp>
      <p:sp>
        <p:nvSpPr>
          <p:cNvPr id="19" name="Shape 17"/>
          <p:cNvSpPr/>
          <p:nvPr/>
        </p:nvSpPr>
        <p:spPr>
          <a:xfrm>
            <a:off x="640080" y="4946904"/>
            <a:ext cx="10881360" cy="804672"/>
          </a:xfrm>
          <a:prstGeom prst="roundRect">
            <a:avLst>
              <a:gd name="adj" fmla="val 3409"/>
            </a:avLst>
          </a:prstGeom>
          <a:solidFill>
            <a:srgbClr val="FFFFFF"/>
          </a:solidFill>
          <a:ln w="9525">
            <a:solidFill>
              <a:srgbClr val="D3DBE0"/>
            </a:solidFill>
            <a:prstDash val="solid"/>
          </a:ln>
        </p:spPr>
      </p:sp>
      <p:sp>
        <p:nvSpPr>
          <p:cNvPr id="20" name="Text 18"/>
          <p:cNvSpPr/>
          <p:nvPr/>
        </p:nvSpPr>
        <p:spPr>
          <a:xfrm>
            <a:off x="914400" y="5166360"/>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Audit evidence</a:t>
            </a:r>
            <a:endParaRPr lang="en-US" sz="1250" dirty="0"/>
          </a:p>
        </p:txBody>
      </p:sp>
      <p:sp>
        <p:nvSpPr>
          <p:cNvPr id="21" name="Text 19"/>
          <p:cNvSpPr/>
          <p:nvPr/>
        </p:nvSpPr>
        <p:spPr>
          <a:xfrm>
            <a:off x="3840480" y="5166360"/>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Assembled by hand after the fact</a:t>
            </a:r>
            <a:endParaRPr lang="en-US" sz="1150" dirty="0"/>
          </a:p>
        </p:txBody>
      </p:sp>
      <p:sp>
        <p:nvSpPr>
          <p:cNvPr id="22" name="Text 20"/>
          <p:cNvSpPr/>
          <p:nvPr/>
        </p:nvSpPr>
        <p:spPr>
          <a:xfrm>
            <a:off x="7498080" y="5111496"/>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statement already carries its object and hash</a:t>
            </a:r>
            <a:endParaRPr lang="en-US" sz="1150" dirty="0"/>
          </a:p>
        </p:txBody>
      </p:sp>
      <p:sp>
        <p:nvSpPr>
          <p:cNvPr id="23" name="Text 21"/>
          <p:cNvSpPr/>
          <p:nvPr/>
        </p:nvSpPr>
        <p:spPr>
          <a:xfrm>
            <a:off x="640080" y="5943600"/>
            <a:ext cx="10881360" cy="457200"/>
          </a:xfrm>
          <a:prstGeom prst="rect">
            <a:avLst/>
          </a:prstGeom>
          <a:noFill/>
          <a:ln/>
        </p:spPr>
        <p:txBody>
          <a:bodyPr wrap="square" lIns="0" tIns="0" rIns="0" bIns="0" rtlCol="0" anchor="ctr"/>
          <a:lstStyle/>
          <a:p>
            <a:pPr indent="0" marL="0">
              <a:buNone/>
            </a:pPr>
            <a:r>
              <a:rPr lang="en-US" sz="1250" i="1" dirty="0">
                <a:solidFill>
                  <a:srgbClr val="5C6B74"/>
                </a:solidFill>
                <a:latin typeface="Calibri" pitchFamily="34" charset="0"/>
                <a:ea typeface="Calibri" pitchFamily="34" charset="-122"/>
                <a:cs typeface="Calibri" pitchFamily="34" charset="-120"/>
              </a:rPr>
              <a:t>The saving is real but secondary. The point is that the document can be re-checked at any time, which is not a thing that gets faster — it is a thing that was not possible.</a:t>
            </a:r>
            <a:endParaRPr lang="en-US" sz="1250" dirty="0"/>
          </a:p>
        </p:txBody>
      </p:sp>
      <p:sp>
        <p:nvSpPr>
          <p:cNvPr id="24" name="Text 22"/>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REQ-F-6c8ef6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Where it stands, honestly</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what is proven, what is written but unproven, and what is not built</a:t>
            </a:r>
            <a:endParaRPr lang="en-US" sz="1400" dirty="0"/>
          </a:p>
        </p:txBody>
      </p:sp>
      <p:sp>
        <p:nvSpPr>
          <p:cNvPr id="4" name="Shape 2"/>
          <p:cNvSpPr/>
          <p:nvPr/>
        </p:nvSpPr>
        <p:spPr>
          <a:xfrm>
            <a:off x="640080" y="1783080"/>
            <a:ext cx="3520440" cy="3200400"/>
          </a:xfrm>
          <a:prstGeom prst="roundRect">
            <a:avLst>
              <a:gd name="adj" fmla="val 1143"/>
            </a:avLst>
          </a:prstGeom>
          <a:solidFill>
            <a:srgbClr val="FFFFFF"/>
          </a:solidFill>
          <a:ln w="9525">
            <a:solidFill>
              <a:srgbClr val="D3DBE0"/>
            </a:solidFill>
            <a:prstDash val="solid"/>
          </a:ln>
        </p:spPr>
      </p:sp>
      <p:sp>
        <p:nvSpPr>
          <p:cNvPr id="5" name="Shape 3"/>
          <p:cNvSpPr/>
          <p:nvPr/>
        </p:nvSpPr>
        <p:spPr>
          <a:xfrm>
            <a:off x="896112" y="2039112"/>
            <a:ext cx="310896" cy="310896"/>
          </a:xfrm>
          <a:prstGeom prst="ellipse">
            <a:avLst/>
          </a:prstGeom>
          <a:solidFill>
            <a:srgbClr val="E4F3EC"/>
          </a:solidFill>
          <a:ln/>
        </p:spPr>
      </p:sp>
      <p:sp>
        <p:nvSpPr>
          <p:cNvPr id="6" name="Text 4"/>
          <p:cNvSpPr/>
          <p:nvPr/>
        </p:nvSpPr>
        <p:spPr>
          <a:xfrm>
            <a:off x="132588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Proven end to end</a:t>
            </a:r>
            <a:endParaRPr lang="en-US" sz="1400" dirty="0"/>
          </a:p>
        </p:txBody>
      </p:sp>
      <p:sp>
        <p:nvSpPr>
          <p:cNvPr id="7" name="Text 5"/>
          <p:cNvSpPr/>
          <p:nvPr/>
        </p:nvSpPr>
        <p:spPr>
          <a:xfrm>
            <a:off x="91440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Both Power BI formats. 801 tests. Drift, reconciliation against DuckDB, lineage to source, RLS and calculation-group logic, the 15-tool chatbot and the decision log — all verified against real models. Several bugs here were found that way, not by unit tests.</a:t>
            </a:r>
            <a:endParaRPr lang="en-US" sz="1200" dirty="0"/>
          </a:p>
        </p:txBody>
      </p:sp>
      <p:sp>
        <p:nvSpPr>
          <p:cNvPr id="8" name="Shape 6"/>
          <p:cNvSpPr/>
          <p:nvPr/>
        </p:nvSpPr>
        <p:spPr>
          <a:xfrm>
            <a:off x="4343400" y="1783080"/>
            <a:ext cx="3520440" cy="3200400"/>
          </a:xfrm>
          <a:prstGeom prst="roundRect">
            <a:avLst>
              <a:gd name="adj" fmla="val 1143"/>
            </a:avLst>
          </a:prstGeom>
          <a:solidFill>
            <a:srgbClr val="FFFFFF"/>
          </a:solidFill>
          <a:ln w="9525">
            <a:solidFill>
              <a:srgbClr val="D3DBE0"/>
            </a:solidFill>
            <a:prstDash val="solid"/>
          </a:ln>
        </p:spPr>
      </p:sp>
      <p:sp>
        <p:nvSpPr>
          <p:cNvPr id="9" name="Shape 7"/>
          <p:cNvSpPr/>
          <p:nvPr/>
        </p:nvSpPr>
        <p:spPr>
          <a:xfrm>
            <a:off x="4599432" y="2039112"/>
            <a:ext cx="310896" cy="310896"/>
          </a:xfrm>
          <a:prstGeom prst="ellipse">
            <a:avLst/>
          </a:prstGeom>
          <a:solidFill>
            <a:srgbClr val="FBF0DD"/>
          </a:solidFill>
          <a:ln/>
        </p:spPr>
      </p:sp>
      <p:sp>
        <p:nvSpPr>
          <p:cNvPr id="10" name="Text 8"/>
          <p:cNvSpPr/>
          <p:nvPr/>
        </p:nvSpPr>
        <p:spPr>
          <a:xfrm>
            <a:off x="502920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not yet live</a:t>
            </a:r>
            <a:endParaRPr lang="en-US" sz="1400" dirty="0"/>
          </a:p>
        </p:txBody>
      </p:sp>
      <p:sp>
        <p:nvSpPr>
          <p:cNvPr id="11" name="Text 9"/>
          <p:cNvSpPr/>
          <p:nvPr/>
        </p:nvSpPr>
        <p:spPr>
          <a:xfrm>
            <a:off x="461772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Connectors for Snowflake, Databricks, Redshift and Athena share the DuckDB code path and are unit-tested against a DB-API cursor — parameters, per-platform identifier case folding, SQL dialect. None has authenticated to a live account; the sandbox blocks those hosts, confirmed rather than assumed.</a:t>
            </a:r>
            <a:endParaRPr lang="en-US" sz="1200" dirty="0"/>
          </a:p>
        </p:txBody>
      </p:sp>
      <p:sp>
        <p:nvSpPr>
          <p:cNvPr id="12" name="Shape 10"/>
          <p:cNvSpPr/>
          <p:nvPr/>
        </p:nvSpPr>
        <p:spPr>
          <a:xfrm>
            <a:off x="8046720" y="1783080"/>
            <a:ext cx="3520440" cy="3200400"/>
          </a:xfrm>
          <a:prstGeom prst="roundRect">
            <a:avLst>
              <a:gd name="adj" fmla="val 1143"/>
            </a:avLst>
          </a:prstGeom>
          <a:solidFill>
            <a:srgbClr val="FFFFFF"/>
          </a:solidFill>
          <a:ln w="9525">
            <a:solidFill>
              <a:srgbClr val="D3DBE0"/>
            </a:solidFill>
            <a:prstDash val="solid"/>
          </a:ln>
        </p:spPr>
      </p:sp>
      <p:sp>
        <p:nvSpPr>
          <p:cNvPr id="13" name="Shape 11"/>
          <p:cNvSpPr/>
          <p:nvPr/>
        </p:nvSpPr>
        <p:spPr>
          <a:xfrm>
            <a:off x="8302752" y="2039112"/>
            <a:ext cx="310896" cy="310896"/>
          </a:xfrm>
          <a:prstGeom prst="ellipse">
            <a:avLst/>
          </a:prstGeom>
          <a:solidFill>
            <a:srgbClr val="DCE8F2"/>
          </a:solidFill>
          <a:ln/>
        </p:spPr>
      </p:sp>
      <p:sp>
        <p:nvSpPr>
          <p:cNvPr id="14" name="Text 12"/>
          <p:cNvSpPr/>
          <p:nvPr/>
        </p:nvSpPr>
        <p:spPr>
          <a:xfrm>
            <a:off x="873252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Not built</a:t>
            </a:r>
            <a:endParaRPr lang="en-US" sz="1400" dirty="0"/>
          </a:p>
        </p:txBody>
      </p:sp>
      <p:sp>
        <p:nvSpPr>
          <p:cNvPr id="15" name="Text 13"/>
          <p:cNvSpPr/>
          <p:nvPr/>
        </p:nvSpPr>
        <p:spPr>
          <a:xfrm>
            <a:off x="832104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No write path back into Power BI — Concordance reads and reports, it never edits a model. Report-page usage is outside the semantic layer, so a measure no other measure uses cannot be proven unused.</a:t>
            </a:r>
            <a:endParaRPr lang="en-US" sz="1200" dirty="0"/>
          </a:p>
        </p:txBody>
      </p:sp>
      <p:sp>
        <p:nvSpPr>
          <p:cNvPr id="16" name="Shape 14"/>
          <p:cNvSpPr/>
          <p:nvPr/>
        </p:nvSpPr>
        <p:spPr>
          <a:xfrm>
            <a:off x="640080" y="5212080"/>
            <a:ext cx="10881360" cy="960120"/>
          </a:xfrm>
          <a:prstGeom prst="roundRect">
            <a:avLst>
              <a:gd name="adj" fmla="val 2857"/>
            </a:avLst>
          </a:prstGeom>
          <a:solidFill>
            <a:srgbClr val="14202B"/>
          </a:solidFill>
          <a:ln w="12700">
            <a:solidFill>
              <a:srgbClr val="14202B"/>
            </a:solidFill>
            <a:prstDash val="solid"/>
          </a:ln>
        </p:spPr>
      </p:sp>
      <p:sp>
        <p:nvSpPr>
          <p:cNvPr id="17" name="Text 15"/>
          <p:cNvSpPr/>
          <p:nvPr/>
        </p:nvSpPr>
        <p:spPr>
          <a:xfrm>
            <a:off x="960120" y="5440680"/>
            <a:ext cx="10241280" cy="548640"/>
          </a:xfrm>
          <a:prstGeom prst="rect">
            <a:avLst/>
          </a:prstGeom>
          <a:noFill/>
          <a:ln/>
        </p:spPr>
        <p:txBody>
          <a:bodyPr wrap="square" lIns="0" tIns="0" rIns="0" bIns="0" rtlCol="0" anchor="ctr"/>
          <a:lstStyle/>
          <a:p>
            <a:pPr indent="0" marL="0">
              <a:buNone/>
            </a:pPr>
            <a:r>
              <a:rPr lang="en-US" sz="1300" dirty="0">
                <a:solidFill>
                  <a:srgbClr val="C2CDD2"/>
                </a:solidFill>
                <a:latin typeface="Calibri" pitchFamily="34" charset="0"/>
                <a:ea typeface="Calibri" pitchFamily="34" charset="-122"/>
                <a:cs typeface="Calibri" pitchFamily="34" charset="-120"/>
              </a:rPr>
              <a:t>Every one of these limits is stated by the software at the point of use, not only on this slide. That is the same standard the tool applies to the models it reads.</a:t>
            </a:r>
            <a:endParaRPr lang="en-US" sz="1300" dirty="0"/>
          </a:p>
        </p:txBody>
      </p:sp>
      <p:sp>
        <p:nvSpPr>
          <p:cNvPr id="18" name="Text 16"/>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tablePermission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737360"/>
            <a:ext cx="78638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Concordance</a:t>
            </a:r>
            <a:endParaRPr lang="en-US" sz="4400" dirty="0"/>
          </a:p>
        </p:txBody>
      </p:sp>
      <p:sp>
        <p:nvSpPr>
          <p:cNvPr id="3" name="Text 1"/>
          <p:cNvSpPr/>
          <p:nvPr/>
        </p:nvSpPr>
        <p:spPr>
          <a:xfrm>
            <a:off x="640080" y="2651760"/>
            <a:ext cx="7863840" cy="914400"/>
          </a:xfrm>
          <a:prstGeom prst="rect">
            <a:avLst/>
          </a:prstGeom>
          <a:noFill/>
          <a:ln/>
        </p:spPr>
        <p:txBody>
          <a:bodyPr wrap="square" lIns="0" tIns="0" rIns="0" bIns="0" rtlCol="0" anchor="ctr"/>
          <a:lstStyle/>
          <a:p>
            <a:pPr indent="0" marL="0">
              <a:lnSpc>
                <a:spcPct val="120000"/>
              </a:lnSpc>
              <a:buNone/>
            </a:pPr>
            <a:r>
              <a:rPr lang="en-US" sz="1800" dirty="0">
                <a:solidFill>
                  <a:srgbClr val="C2CDD2"/>
                </a:solidFill>
                <a:latin typeface="Calibri" pitchFamily="34" charset="0"/>
                <a:ea typeface="Calibri" pitchFamily="34" charset="-122"/>
                <a:cs typeface="Calibri" pitchFamily="34" charset="-120"/>
              </a:rPr>
              <a:t>The document, the model and the warehouse — held together by something that breaks loudly when they diverge.</a:t>
            </a:r>
            <a:endParaRPr lang="en-US" sz="1800" dirty="0"/>
          </a:p>
        </p:txBody>
      </p:sp>
      <p:sp>
        <p:nvSpPr>
          <p:cNvPr id="4" name="Shape 2"/>
          <p:cNvSpPr/>
          <p:nvPr/>
        </p:nvSpPr>
        <p:spPr>
          <a:xfrm>
            <a:off x="640080" y="3941064"/>
            <a:ext cx="274320" cy="274320"/>
          </a:xfrm>
          <a:prstGeom prst="ellipse">
            <a:avLst/>
          </a:prstGeom>
          <a:solidFill>
            <a:srgbClr val="2C5985"/>
          </a:solidFill>
          <a:ln/>
        </p:spPr>
      </p:sp>
      <p:sp>
        <p:nvSpPr>
          <p:cNvPr id="5" name="Text 3"/>
          <p:cNvSpPr/>
          <p:nvPr/>
        </p:nvSpPr>
        <p:spPr>
          <a:xfrm>
            <a:off x="1097280" y="3886200"/>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Innovation</a:t>
            </a:r>
            <a:endParaRPr lang="en-US" sz="1350" dirty="0"/>
          </a:p>
        </p:txBody>
      </p:sp>
      <p:sp>
        <p:nvSpPr>
          <p:cNvPr id="6" name="Text 4"/>
          <p:cNvSpPr/>
          <p:nvPr/>
        </p:nvSpPr>
        <p:spPr>
          <a:xfrm>
            <a:off x="3017520" y="3904488"/>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A requirement bound to a fingerprint; a sign-off that expires on its own</a:t>
            </a:r>
            <a:endParaRPr lang="en-US" sz="1250" dirty="0"/>
          </a:p>
        </p:txBody>
      </p:sp>
      <p:sp>
        <p:nvSpPr>
          <p:cNvPr id="7" name="Shape 5"/>
          <p:cNvSpPr/>
          <p:nvPr/>
        </p:nvSpPr>
        <p:spPr>
          <a:xfrm>
            <a:off x="640080" y="4654296"/>
            <a:ext cx="274320" cy="274320"/>
          </a:xfrm>
          <a:prstGeom prst="ellipse">
            <a:avLst/>
          </a:prstGeom>
          <a:solidFill>
            <a:srgbClr val="2C5985"/>
          </a:solidFill>
          <a:ln/>
        </p:spPr>
      </p:sp>
      <p:sp>
        <p:nvSpPr>
          <p:cNvPr id="8" name="Text 6"/>
          <p:cNvSpPr/>
          <p:nvPr/>
        </p:nvSpPr>
        <p:spPr>
          <a:xfrm>
            <a:off x="1097280" y="4599432"/>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Technical</a:t>
            </a:r>
            <a:endParaRPr lang="en-US" sz="1350" dirty="0"/>
          </a:p>
        </p:txBody>
      </p:sp>
      <p:sp>
        <p:nvSpPr>
          <p:cNvPr id="9" name="Text 7"/>
          <p:cNvSpPr/>
          <p:nvPr/>
        </p:nvSpPr>
        <p:spPr>
          <a:xfrm>
            <a:off x="3017520" y="4617720"/>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Lexer-based canonicalisation, a real AST for SQL, 801 tests, no regex</a:t>
            </a:r>
            <a:endParaRPr lang="en-US" sz="1250" dirty="0"/>
          </a:p>
        </p:txBody>
      </p:sp>
      <p:sp>
        <p:nvSpPr>
          <p:cNvPr id="10" name="Shape 8"/>
          <p:cNvSpPr/>
          <p:nvPr/>
        </p:nvSpPr>
        <p:spPr>
          <a:xfrm>
            <a:off x="640080" y="5367528"/>
            <a:ext cx="274320" cy="274320"/>
          </a:xfrm>
          <a:prstGeom prst="ellipse">
            <a:avLst/>
          </a:prstGeom>
          <a:solidFill>
            <a:srgbClr val="2C5985"/>
          </a:solidFill>
          <a:ln/>
        </p:spPr>
      </p:sp>
      <p:sp>
        <p:nvSpPr>
          <p:cNvPr id="11" name="Text 9"/>
          <p:cNvSpPr/>
          <p:nvPr/>
        </p:nvSpPr>
        <p:spPr>
          <a:xfrm>
            <a:off x="1097280" y="5312664"/>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Impact</a:t>
            </a:r>
            <a:endParaRPr lang="en-US" sz="1350" dirty="0"/>
          </a:p>
        </p:txBody>
      </p:sp>
      <p:sp>
        <p:nvSpPr>
          <p:cNvPr id="12" name="Text 10"/>
          <p:cNvSpPr/>
          <p:nvPr/>
        </p:nvSpPr>
        <p:spPr>
          <a:xfrm>
            <a:off x="3017520" y="5330952"/>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Documents that can be re-checked, and disagreements found before a meeting</a:t>
            </a:r>
            <a:endParaRPr lang="en-US" sz="1250" dirty="0"/>
          </a:p>
        </p:txBody>
      </p:sp>
      <p:sp>
        <p:nvSpPr>
          <p:cNvPr id="13" name="Text 1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concordance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Concordance — Novo Nordisk GBS Hackathon 2026, PS 5</dc:title>
  <dc:subject>PptxGenJS Presentation</dc:subject>
  <dc:creator>Concordance</dc:creator>
  <cp:lastModifiedBy>Concordance</cp:lastModifiedBy>
  <cp:revision>1</cp:revision>
  <dcterms:created xsi:type="dcterms:W3CDTF">2026-08-24T05:53:16Z</dcterms:created>
  <dcterms:modified xsi:type="dcterms:W3CDTF">2026-08-24T05:53:16Z</dcterms:modified>
</cp:coreProperties>
</file>